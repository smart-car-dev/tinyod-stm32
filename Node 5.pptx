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72" r:id="rId2"/>
  </p:sldMasterIdLst>
  <p:notesMasterIdLst>
    <p:notesMasterId r:id="rId33"/>
  </p:notesMasterIdLst>
  <p:sldIdLst>
    <p:sldId id="300" r:id="rId3"/>
    <p:sldId id="281" r:id="rId4"/>
    <p:sldId id="280" r:id="rId5"/>
    <p:sldId id="285" r:id="rId6"/>
    <p:sldId id="283" r:id="rId7"/>
    <p:sldId id="303" r:id="rId8"/>
    <p:sldId id="304" r:id="rId9"/>
    <p:sldId id="305" r:id="rId10"/>
    <p:sldId id="306" r:id="rId11"/>
    <p:sldId id="309" r:id="rId12"/>
    <p:sldId id="307" r:id="rId13"/>
    <p:sldId id="308" r:id="rId14"/>
    <p:sldId id="290" r:id="rId15"/>
    <p:sldId id="310" r:id="rId16"/>
    <p:sldId id="311" r:id="rId17"/>
    <p:sldId id="312" r:id="rId18"/>
    <p:sldId id="313" r:id="rId19"/>
    <p:sldId id="314" r:id="rId20"/>
    <p:sldId id="315" r:id="rId21"/>
    <p:sldId id="316" r:id="rId22"/>
    <p:sldId id="293" r:id="rId23"/>
    <p:sldId id="319" r:id="rId24"/>
    <p:sldId id="318" r:id="rId25"/>
    <p:sldId id="317" r:id="rId26"/>
    <p:sldId id="320" r:id="rId27"/>
    <p:sldId id="321" r:id="rId28"/>
    <p:sldId id="322" r:id="rId29"/>
    <p:sldId id="323" r:id="rId30"/>
    <p:sldId id="299" r:id="rId31"/>
    <p:sldId id="302" r:id="rId32"/>
  </p:sldIdLst>
  <p:sldSz cx="12192000" cy="6858000"/>
  <p:notesSz cx="6858000" cy="9144000"/>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3D91"/>
    <a:srgbClr val="FFD5D5"/>
    <a:srgbClr val="F5FED6"/>
    <a:srgbClr val="782634"/>
    <a:srgbClr val="8A2225"/>
    <a:srgbClr val="8E2122"/>
    <a:srgbClr val="F8FED6"/>
    <a:srgbClr val="00FC00"/>
    <a:srgbClr val="FFFFFF"/>
    <a:srgbClr val="FFBD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660"/>
  </p:normalViewPr>
  <p:slideViewPr>
    <p:cSldViewPr snapToGrid="0">
      <p:cViewPr varScale="1">
        <p:scale>
          <a:sx n="80" d="100"/>
          <a:sy n="80" d="100"/>
        </p:scale>
        <p:origin x="825" y="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29FB33C6-392F-4C4A-AA38-5A22C6CA163B}" type="datetimeFigureOut">
              <a:rPr lang="fa-IR" smtClean="0"/>
              <a:t>05/02/1448</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6ED02C3-1740-41D0-BAE7-AD128769DC12}" type="slidenum">
              <a:rPr lang="fa-IR" smtClean="0"/>
              <a:t>‹#›</a:t>
            </a:fld>
            <a:endParaRPr lang="fa-IR"/>
          </a:p>
        </p:txBody>
      </p:sp>
    </p:spTree>
    <p:extLst>
      <p:ext uri="{BB962C8B-B14F-4D97-AF65-F5344CB8AC3E}">
        <p14:creationId xmlns:p14="http://schemas.microsoft.com/office/powerpoint/2010/main" val="2372920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C6ED02C3-1740-41D0-BAE7-AD128769DC12}" type="slidenum">
              <a:rPr lang="fa-IR" smtClean="0"/>
              <a:t>2</a:t>
            </a:fld>
            <a:endParaRPr lang="fa-IR"/>
          </a:p>
        </p:txBody>
      </p:sp>
    </p:spTree>
    <p:extLst>
      <p:ext uri="{BB962C8B-B14F-4D97-AF65-F5344CB8AC3E}">
        <p14:creationId xmlns:p14="http://schemas.microsoft.com/office/powerpoint/2010/main" val="2448181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8E3C6-3B90-E4EF-4223-3866D2EC6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DF370-9765-679F-1FB6-FA8B1869B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FF219-7985-062A-E94F-83D9A15DD05D}"/>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E1772DA1-6BD0-FC79-DF5F-6894328172B7}"/>
              </a:ext>
            </a:extLst>
          </p:cNvPr>
          <p:cNvSpPr>
            <a:spLocks noGrp="1"/>
          </p:cNvSpPr>
          <p:nvPr>
            <p:ph type="sldNum" sz="quarter" idx="5"/>
          </p:nvPr>
        </p:nvSpPr>
        <p:spPr/>
        <p:txBody>
          <a:bodyPr/>
          <a:lstStyle/>
          <a:p>
            <a:fld id="{C6ED02C3-1740-41D0-BAE7-AD128769DC12}" type="slidenum">
              <a:rPr lang="fa-IR" smtClean="0"/>
              <a:t>6</a:t>
            </a:fld>
            <a:endParaRPr lang="fa-IR"/>
          </a:p>
        </p:txBody>
      </p:sp>
    </p:spTree>
    <p:extLst>
      <p:ext uri="{BB962C8B-B14F-4D97-AF65-F5344CB8AC3E}">
        <p14:creationId xmlns:p14="http://schemas.microsoft.com/office/powerpoint/2010/main" val="3274297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E4D06-AF85-E258-D241-4D6469C69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DA8A4-B87D-40B5-FE0F-4D65A4143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9764D-3FBC-0399-5DE4-9E52711E9D78}"/>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A2286C81-9F36-640E-A85B-21DE12D9473E}"/>
              </a:ext>
            </a:extLst>
          </p:cNvPr>
          <p:cNvSpPr>
            <a:spLocks noGrp="1"/>
          </p:cNvSpPr>
          <p:nvPr>
            <p:ph type="sldNum" sz="quarter" idx="5"/>
          </p:nvPr>
        </p:nvSpPr>
        <p:spPr/>
        <p:txBody>
          <a:bodyPr/>
          <a:lstStyle/>
          <a:p>
            <a:fld id="{C6ED02C3-1740-41D0-BAE7-AD128769DC12}" type="slidenum">
              <a:rPr lang="fa-IR" smtClean="0"/>
              <a:t>7</a:t>
            </a:fld>
            <a:endParaRPr lang="fa-IR"/>
          </a:p>
        </p:txBody>
      </p:sp>
    </p:spTree>
    <p:extLst>
      <p:ext uri="{BB962C8B-B14F-4D97-AF65-F5344CB8AC3E}">
        <p14:creationId xmlns:p14="http://schemas.microsoft.com/office/powerpoint/2010/main" val="2864806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D32B-498D-4EED-9139-3640EBD99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F2933-71F1-10C6-9654-976CFF41C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10767-0143-2BE0-C72E-0C9C9C9F5ED4}"/>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5B81C9FF-940B-90F8-96DD-223199945BEC}"/>
              </a:ext>
            </a:extLst>
          </p:cNvPr>
          <p:cNvSpPr>
            <a:spLocks noGrp="1"/>
          </p:cNvSpPr>
          <p:nvPr>
            <p:ph type="sldNum" sz="quarter" idx="5"/>
          </p:nvPr>
        </p:nvSpPr>
        <p:spPr/>
        <p:txBody>
          <a:bodyPr/>
          <a:lstStyle/>
          <a:p>
            <a:fld id="{C6ED02C3-1740-41D0-BAE7-AD128769DC12}" type="slidenum">
              <a:rPr lang="fa-IR" smtClean="0"/>
              <a:t>8</a:t>
            </a:fld>
            <a:endParaRPr lang="fa-IR"/>
          </a:p>
        </p:txBody>
      </p:sp>
    </p:spTree>
    <p:extLst>
      <p:ext uri="{BB962C8B-B14F-4D97-AF65-F5344CB8AC3E}">
        <p14:creationId xmlns:p14="http://schemas.microsoft.com/office/powerpoint/2010/main" val="2074432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08154-AB14-190F-DC08-81654F12B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56AE1-EDF6-D766-87B8-0D4C17BC9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E77A4-05C1-5F25-9D82-82DE6E920C5C}"/>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BA5F803B-C305-246C-77FA-7FD56241078D}"/>
              </a:ext>
            </a:extLst>
          </p:cNvPr>
          <p:cNvSpPr>
            <a:spLocks noGrp="1"/>
          </p:cNvSpPr>
          <p:nvPr>
            <p:ph type="sldNum" sz="quarter" idx="5"/>
          </p:nvPr>
        </p:nvSpPr>
        <p:spPr/>
        <p:txBody>
          <a:bodyPr/>
          <a:lstStyle/>
          <a:p>
            <a:fld id="{C6ED02C3-1740-41D0-BAE7-AD128769DC12}" type="slidenum">
              <a:rPr lang="fa-IR" smtClean="0"/>
              <a:t>9</a:t>
            </a:fld>
            <a:endParaRPr lang="fa-IR"/>
          </a:p>
        </p:txBody>
      </p:sp>
    </p:spTree>
    <p:extLst>
      <p:ext uri="{BB962C8B-B14F-4D97-AF65-F5344CB8AC3E}">
        <p14:creationId xmlns:p14="http://schemas.microsoft.com/office/powerpoint/2010/main" val="1851307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1B85-7150-A88F-5DAA-347A2D3EE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5C878-01C5-155E-B76E-E177D08E1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60BE3-8C93-F77E-21D9-C58AC5AA81E2}"/>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6063216E-8D10-5A56-9408-4969B0D67356}"/>
              </a:ext>
            </a:extLst>
          </p:cNvPr>
          <p:cNvSpPr>
            <a:spLocks noGrp="1"/>
          </p:cNvSpPr>
          <p:nvPr>
            <p:ph type="sldNum" sz="quarter" idx="5"/>
          </p:nvPr>
        </p:nvSpPr>
        <p:spPr/>
        <p:txBody>
          <a:bodyPr/>
          <a:lstStyle/>
          <a:p>
            <a:fld id="{C6ED02C3-1740-41D0-BAE7-AD128769DC12}" type="slidenum">
              <a:rPr lang="fa-IR" smtClean="0"/>
              <a:t>10</a:t>
            </a:fld>
            <a:endParaRPr lang="fa-IR"/>
          </a:p>
        </p:txBody>
      </p:sp>
    </p:spTree>
    <p:extLst>
      <p:ext uri="{BB962C8B-B14F-4D97-AF65-F5344CB8AC3E}">
        <p14:creationId xmlns:p14="http://schemas.microsoft.com/office/powerpoint/2010/main" val="642701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1B71-2310-793B-1757-33BE1C30E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B9336-694C-6F6F-32B8-159777FA3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A48AB-2149-D6C3-9CC1-0EC5B1D2C7CB}"/>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E16A5338-0F8C-C4B3-E54C-F4B76362D8D6}"/>
              </a:ext>
            </a:extLst>
          </p:cNvPr>
          <p:cNvSpPr>
            <a:spLocks noGrp="1"/>
          </p:cNvSpPr>
          <p:nvPr>
            <p:ph type="sldNum" sz="quarter" idx="5"/>
          </p:nvPr>
        </p:nvSpPr>
        <p:spPr/>
        <p:txBody>
          <a:bodyPr/>
          <a:lstStyle/>
          <a:p>
            <a:fld id="{C6ED02C3-1740-41D0-BAE7-AD128769DC12}" type="slidenum">
              <a:rPr lang="fa-IR" smtClean="0"/>
              <a:t>11</a:t>
            </a:fld>
            <a:endParaRPr lang="fa-IR"/>
          </a:p>
        </p:txBody>
      </p:sp>
    </p:spTree>
    <p:extLst>
      <p:ext uri="{BB962C8B-B14F-4D97-AF65-F5344CB8AC3E}">
        <p14:creationId xmlns:p14="http://schemas.microsoft.com/office/powerpoint/2010/main" val="2346754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D98E-DCA5-0227-460C-52AC0ECA4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FB7F1-1849-6259-AEDE-87944666B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B0BEF-A3A1-F6AF-027D-E40C04A441F5}"/>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B0B9A490-7A43-D23E-C18A-BCE410820506}"/>
              </a:ext>
            </a:extLst>
          </p:cNvPr>
          <p:cNvSpPr>
            <a:spLocks noGrp="1"/>
          </p:cNvSpPr>
          <p:nvPr>
            <p:ph type="sldNum" sz="quarter" idx="5"/>
          </p:nvPr>
        </p:nvSpPr>
        <p:spPr/>
        <p:txBody>
          <a:bodyPr/>
          <a:lstStyle/>
          <a:p>
            <a:fld id="{C6ED02C3-1740-41D0-BAE7-AD128769DC12}" type="slidenum">
              <a:rPr lang="fa-IR" smtClean="0"/>
              <a:t>12</a:t>
            </a:fld>
            <a:endParaRPr lang="fa-IR"/>
          </a:p>
        </p:txBody>
      </p:sp>
    </p:spTree>
    <p:extLst>
      <p:ext uri="{BB962C8B-B14F-4D97-AF65-F5344CB8AC3E}">
        <p14:creationId xmlns:p14="http://schemas.microsoft.com/office/powerpoint/2010/main" val="1741609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555A-B20B-1611-5C96-51D4FFF48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5709A-2692-04F1-1EB1-DA26447CA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94D55-87A1-C0F5-84EE-AF7A74ECA1AC}"/>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0416CD15-196F-DD8C-3A70-4B60B9D847A0}"/>
              </a:ext>
            </a:extLst>
          </p:cNvPr>
          <p:cNvSpPr>
            <a:spLocks noGrp="1"/>
          </p:cNvSpPr>
          <p:nvPr>
            <p:ph type="sldNum" sz="quarter" idx="5"/>
          </p:nvPr>
        </p:nvSpPr>
        <p:spPr/>
        <p:txBody>
          <a:bodyPr/>
          <a:lstStyle/>
          <a:p>
            <a:fld id="{C6ED02C3-1740-41D0-BAE7-AD128769DC12}" type="slidenum">
              <a:rPr lang="fa-IR" smtClean="0"/>
              <a:t>14</a:t>
            </a:fld>
            <a:endParaRPr lang="fa-IR"/>
          </a:p>
        </p:txBody>
      </p:sp>
    </p:spTree>
    <p:extLst>
      <p:ext uri="{BB962C8B-B14F-4D97-AF65-F5344CB8AC3E}">
        <p14:creationId xmlns:p14="http://schemas.microsoft.com/office/powerpoint/2010/main" val="3710676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2B08-3ECF-AE0A-C83B-8D5BD81EE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C6F30-0997-0BA1-E81B-7F6EB0481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E56CA-ADC3-00DD-7F8E-1B592A3BFF7B}"/>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155BB355-4FA1-AFC5-7B84-C45AED3196D7}"/>
              </a:ext>
            </a:extLst>
          </p:cNvPr>
          <p:cNvSpPr>
            <a:spLocks noGrp="1"/>
          </p:cNvSpPr>
          <p:nvPr>
            <p:ph type="sldNum" sz="quarter" idx="5"/>
          </p:nvPr>
        </p:nvSpPr>
        <p:spPr/>
        <p:txBody>
          <a:bodyPr/>
          <a:lstStyle/>
          <a:p>
            <a:fld id="{C6ED02C3-1740-41D0-BAE7-AD128769DC12}" type="slidenum">
              <a:rPr lang="fa-IR" smtClean="0"/>
              <a:t>15</a:t>
            </a:fld>
            <a:endParaRPr lang="fa-IR"/>
          </a:p>
        </p:txBody>
      </p:sp>
    </p:spTree>
    <p:extLst>
      <p:ext uri="{BB962C8B-B14F-4D97-AF65-F5344CB8AC3E}">
        <p14:creationId xmlns:p14="http://schemas.microsoft.com/office/powerpoint/2010/main" val="2448926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BAC4-2FE2-6441-AB88-1F1BBCD43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9A486-7323-46CA-EB39-096D1D476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0238D-DEA3-EEDE-4368-77E50E7603F8}"/>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AA8A81ED-254A-43CC-E70E-0B225807D6B1}"/>
              </a:ext>
            </a:extLst>
          </p:cNvPr>
          <p:cNvSpPr>
            <a:spLocks noGrp="1"/>
          </p:cNvSpPr>
          <p:nvPr>
            <p:ph type="sldNum" sz="quarter" idx="5"/>
          </p:nvPr>
        </p:nvSpPr>
        <p:spPr/>
        <p:txBody>
          <a:bodyPr/>
          <a:lstStyle/>
          <a:p>
            <a:fld id="{C6ED02C3-1740-41D0-BAE7-AD128769DC12}" type="slidenum">
              <a:rPr lang="fa-IR" smtClean="0"/>
              <a:t>16</a:t>
            </a:fld>
            <a:endParaRPr lang="fa-IR"/>
          </a:p>
        </p:txBody>
      </p:sp>
    </p:spTree>
    <p:extLst>
      <p:ext uri="{BB962C8B-B14F-4D97-AF65-F5344CB8AC3E}">
        <p14:creationId xmlns:p14="http://schemas.microsoft.com/office/powerpoint/2010/main" val="2766056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76318-E3F5-49BD-2252-65CED0BC2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22308-8509-0900-0EA5-C76279E11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89FB1-90DB-0062-4DB6-EDEE5A16172F}"/>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B3DCF02E-DDAD-0BA3-846A-EAC0E18859E5}"/>
              </a:ext>
            </a:extLst>
          </p:cNvPr>
          <p:cNvSpPr>
            <a:spLocks noGrp="1"/>
          </p:cNvSpPr>
          <p:nvPr>
            <p:ph type="sldNum" sz="quarter" idx="5"/>
          </p:nvPr>
        </p:nvSpPr>
        <p:spPr/>
        <p:txBody>
          <a:bodyPr/>
          <a:lstStyle/>
          <a:p>
            <a:fld id="{C6ED02C3-1740-41D0-BAE7-AD128769DC12}" type="slidenum">
              <a:rPr lang="fa-IR" smtClean="0"/>
              <a:t>17</a:t>
            </a:fld>
            <a:endParaRPr lang="fa-IR"/>
          </a:p>
        </p:txBody>
      </p:sp>
    </p:spTree>
    <p:extLst>
      <p:ext uri="{BB962C8B-B14F-4D97-AF65-F5344CB8AC3E}">
        <p14:creationId xmlns:p14="http://schemas.microsoft.com/office/powerpoint/2010/main" val="881886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2E22F-84AC-3DF4-A478-CF3F606EF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33927-41ED-4F36-2AF2-85A62D9C7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0BF17-F0C3-91AA-F7E5-6F5538DC8F33}"/>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17AABA6D-8CC3-704D-1619-2C31C25B4FF3}"/>
              </a:ext>
            </a:extLst>
          </p:cNvPr>
          <p:cNvSpPr>
            <a:spLocks noGrp="1"/>
          </p:cNvSpPr>
          <p:nvPr>
            <p:ph type="sldNum" sz="quarter" idx="5"/>
          </p:nvPr>
        </p:nvSpPr>
        <p:spPr/>
        <p:txBody>
          <a:bodyPr/>
          <a:lstStyle/>
          <a:p>
            <a:fld id="{C6ED02C3-1740-41D0-BAE7-AD128769DC12}" type="slidenum">
              <a:rPr lang="fa-IR" smtClean="0"/>
              <a:t>18</a:t>
            </a:fld>
            <a:endParaRPr lang="fa-IR"/>
          </a:p>
        </p:txBody>
      </p:sp>
    </p:spTree>
    <p:extLst>
      <p:ext uri="{BB962C8B-B14F-4D97-AF65-F5344CB8AC3E}">
        <p14:creationId xmlns:p14="http://schemas.microsoft.com/office/powerpoint/2010/main" val="972186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AAD72-1ADA-D061-B248-B2DEE6253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03D61-86A8-2174-9788-8BBB6F190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7B965-01D1-19C9-A071-B569BB068FBD}"/>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5136F43B-6222-3EA1-942B-350D598EB741}"/>
              </a:ext>
            </a:extLst>
          </p:cNvPr>
          <p:cNvSpPr>
            <a:spLocks noGrp="1"/>
          </p:cNvSpPr>
          <p:nvPr>
            <p:ph type="sldNum" sz="quarter" idx="5"/>
          </p:nvPr>
        </p:nvSpPr>
        <p:spPr/>
        <p:txBody>
          <a:bodyPr/>
          <a:lstStyle/>
          <a:p>
            <a:fld id="{C6ED02C3-1740-41D0-BAE7-AD128769DC12}" type="slidenum">
              <a:rPr lang="fa-IR" smtClean="0"/>
              <a:t>19</a:t>
            </a:fld>
            <a:endParaRPr lang="fa-IR"/>
          </a:p>
        </p:txBody>
      </p:sp>
    </p:spTree>
    <p:extLst>
      <p:ext uri="{BB962C8B-B14F-4D97-AF65-F5344CB8AC3E}">
        <p14:creationId xmlns:p14="http://schemas.microsoft.com/office/powerpoint/2010/main" val="2930678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E1C2-40F3-61D1-0F3D-9A34F5424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42B1F-0663-37EA-98A4-46C5476D1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EB902-C399-7CCD-34AF-F05323C5F589}"/>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AA77E4DA-7B76-7000-EC83-0B4E5C0C2471}"/>
              </a:ext>
            </a:extLst>
          </p:cNvPr>
          <p:cNvSpPr>
            <a:spLocks noGrp="1"/>
          </p:cNvSpPr>
          <p:nvPr>
            <p:ph type="sldNum" sz="quarter" idx="5"/>
          </p:nvPr>
        </p:nvSpPr>
        <p:spPr/>
        <p:txBody>
          <a:bodyPr/>
          <a:lstStyle/>
          <a:p>
            <a:fld id="{C6ED02C3-1740-41D0-BAE7-AD128769DC12}" type="slidenum">
              <a:rPr lang="fa-IR" smtClean="0"/>
              <a:t>20</a:t>
            </a:fld>
            <a:endParaRPr lang="fa-IR"/>
          </a:p>
        </p:txBody>
      </p:sp>
    </p:spTree>
    <p:extLst>
      <p:ext uri="{BB962C8B-B14F-4D97-AF65-F5344CB8AC3E}">
        <p14:creationId xmlns:p14="http://schemas.microsoft.com/office/powerpoint/2010/main" val="631025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5857-57CD-1C33-C6A0-01E7C44A6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F4B0F-396C-05B7-EE87-36647C309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D97D5-4405-A1F2-738A-06D81B9F55CE}"/>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D1482D12-6F05-D5BB-8687-DA91FEB25430}"/>
              </a:ext>
            </a:extLst>
          </p:cNvPr>
          <p:cNvSpPr>
            <a:spLocks noGrp="1"/>
          </p:cNvSpPr>
          <p:nvPr>
            <p:ph type="sldNum" sz="quarter" idx="5"/>
          </p:nvPr>
        </p:nvSpPr>
        <p:spPr/>
        <p:txBody>
          <a:bodyPr/>
          <a:lstStyle/>
          <a:p>
            <a:fld id="{C6ED02C3-1740-41D0-BAE7-AD128769DC12}" type="slidenum">
              <a:rPr lang="fa-IR" smtClean="0"/>
              <a:t>22</a:t>
            </a:fld>
            <a:endParaRPr lang="fa-IR"/>
          </a:p>
        </p:txBody>
      </p:sp>
    </p:spTree>
    <p:extLst>
      <p:ext uri="{BB962C8B-B14F-4D97-AF65-F5344CB8AC3E}">
        <p14:creationId xmlns:p14="http://schemas.microsoft.com/office/powerpoint/2010/main" val="822392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2D568-4536-4763-04F0-1A9C3044D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AE9D1-BE4E-5FBB-FB85-78B6E441E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F1526-B6D8-567A-D64D-E370FBFEAA13}"/>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5224CDE7-C9E8-1F5D-A26A-3EEB4CC6011A}"/>
              </a:ext>
            </a:extLst>
          </p:cNvPr>
          <p:cNvSpPr>
            <a:spLocks noGrp="1"/>
          </p:cNvSpPr>
          <p:nvPr>
            <p:ph type="sldNum" sz="quarter" idx="5"/>
          </p:nvPr>
        </p:nvSpPr>
        <p:spPr/>
        <p:txBody>
          <a:bodyPr/>
          <a:lstStyle/>
          <a:p>
            <a:fld id="{C6ED02C3-1740-41D0-BAE7-AD128769DC12}" type="slidenum">
              <a:rPr lang="fa-IR" smtClean="0"/>
              <a:t>23</a:t>
            </a:fld>
            <a:endParaRPr lang="fa-IR"/>
          </a:p>
        </p:txBody>
      </p:sp>
    </p:spTree>
    <p:extLst>
      <p:ext uri="{BB962C8B-B14F-4D97-AF65-F5344CB8AC3E}">
        <p14:creationId xmlns:p14="http://schemas.microsoft.com/office/powerpoint/2010/main" val="1206055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68AF-E574-889D-094F-CFE5F6004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31485-7009-7FD9-FD4B-183F475F4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73BCE-45AC-8204-7690-149258D9B967}"/>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79BA940F-7DEA-6CA0-4C98-128C5DC9BDA5}"/>
              </a:ext>
            </a:extLst>
          </p:cNvPr>
          <p:cNvSpPr>
            <a:spLocks noGrp="1"/>
          </p:cNvSpPr>
          <p:nvPr>
            <p:ph type="sldNum" sz="quarter" idx="5"/>
          </p:nvPr>
        </p:nvSpPr>
        <p:spPr/>
        <p:txBody>
          <a:bodyPr/>
          <a:lstStyle/>
          <a:p>
            <a:fld id="{C6ED02C3-1740-41D0-BAE7-AD128769DC12}" type="slidenum">
              <a:rPr lang="fa-IR" smtClean="0"/>
              <a:t>24</a:t>
            </a:fld>
            <a:endParaRPr lang="fa-IR"/>
          </a:p>
        </p:txBody>
      </p:sp>
    </p:spTree>
    <p:extLst>
      <p:ext uri="{BB962C8B-B14F-4D97-AF65-F5344CB8AC3E}">
        <p14:creationId xmlns:p14="http://schemas.microsoft.com/office/powerpoint/2010/main" val="696075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53CF2-80C5-B394-FEF2-AD9FE0ADF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DFE4-B234-5696-9285-24C4BB5E6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AD0EF-3984-DD3C-5E56-7A33C32A9338}"/>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21F590BF-953D-8A07-EDB7-AE7BA28B19FA}"/>
              </a:ext>
            </a:extLst>
          </p:cNvPr>
          <p:cNvSpPr>
            <a:spLocks noGrp="1"/>
          </p:cNvSpPr>
          <p:nvPr>
            <p:ph type="sldNum" sz="quarter" idx="5"/>
          </p:nvPr>
        </p:nvSpPr>
        <p:spPr/>
        <p:txBody>
          <a:bodyPr/>
          <a:lstStyle/>
          <a:p>
            <a:fld id="{C6ED02C3-1740-41D0-BAE7-AD128769DC12}" type="slidenum">
              <a:rPr lang="fa-IR" smtClean="0"/>
              <a:t>25</a:t>
            </a:fld>
            <a:endParaRPr lang="fa-IR"/>
          </a:p>
        </p:txBody>
      </p:sp>
    </p:spTree>
    <p:extLst>
      <p:ext uri="{BB962C8B-B14F-4D97-AF65-F5344CB8AC3E}">
        <p14:creationId xmlns:p14="http://schemas.microsoft.com/office/powerpoint/2010/main" val="1092331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C05B-A74F-3D29-8A84-1B30D8E49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8FE04-BAE6-2FEB-70ED-9E4D086EB1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77D5FC-D420-7D98-8034-9A4C1E20F72B}"/>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3C5407D1-1F1A-47B3-4A77-B89BCADC8311}"/>
              </a:ext>
            </a:extLst>
          </p:cNvPr>
          <p:cNvSpPr>
            <a:spLocks noGrp="1"/>
          </p:cNvSpPr>
          <p:nvPr>
            <p:ph type="sldNum" sz="quarter" idx="5"/>
          </p:nvPr>
        </p:nvSpPr>
        <p:spPr/>
        <p:txBody>
          <a:bodyPr/>
          <a:lstStyle/>
          <a:p>
            <a:fld id="{C6ED02C3-1740-41D0-BAE7-AD128769DC12}" type="slidenum">
              <a:rPr lang="fa-IR" smtClean="0"/>
              <a:t>26</a:t>
            </a:fld>
            <a:endParaRPr lang="fa-IR"/>
          </a:p>
        </p:txBody>
      </p:sp>
    </p:spTree>
    <p:extLst>
      <p:ext uri="{BB962C8B-B14F-4D97-AF65-F5344CB8AC3E}">
        <p14:creationId xmlns:p14="http://schemas.microsoft.com/office/powerpoint/2010/main" val="3022513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BB8DB-C136-9F69-F78F-59A8439A4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EC539-829C-BC59-6640-EC0EA53DC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95A7A-C1EA-4065-96D4-E5ECE66A39AC}"/>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60FCAEAD-178C-D451-53B3-AEBC7FB244B2}"/>
              </a:ext>
            </a:extLst>
          </p:cNvPr>
          <p:cNvSpPr>
            <a:spLocks noGrp="1"/>
          </p:cNvSpPr>
          <p:nvPr>
            <p:ph type="sldNum" sz="quarter" idx="5"/>
          </p:nvPr>
        </p:nvSpPr>
        <p:spPr/>
        <p:txBody>
          <a:bodyPr/>
          <a:lstStyle/>
          <a:p>
            <a:fld id="{C6ED02C3-1740-41D0-BAE7-AD128769DC12}" type="slidenum">
              <a:rPr lang="fa-IR" smtClean="0"/>
              <a:t>27</a:t>
            </a:fld>
            <a:endParaRPr lang="fa-IR"/>
          </a:p>
        </p:txBody>
      </p:sp>
    </p:spTree>
    <p:extLst>
      <p:ext uri="{BB962C8B-B14F-4D97-AF65-F5344CB8AC3E}">
        <p14:creationId xmlns:p14="http://schemas.microsoft.com/office/powerpoint/2010/main" val="1729734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21FB-11EC-ADF0-8812-9B516E033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6E00F-BFEB-7B1F-D292-BE12F9A5E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7C4BBE-82AF-2B1D-4F90-437B8E68BA7A}"/>
              </a:ext>
            </a:extLst>
          </p:cNvPr>
          <p:cNvSpPr>
            <a:spLocks noGrp="1"/>
          </p:cNvSpPr>
          <p:nvPr>
            <p:ph type="body" idx="1"/>
          </p:nvPr>
        </p:nvSpPr>
        <p:spPr/>
        <p:txBody>
          <a:bodyPr/>
          <a:lstStyle/>
          <a:p>
            <a:endParaRPr lang="fa-IR" dirty="0"/>
          </a:p>
        </p:txBody>
      </p:sp>
      <p:sp>
        <p:nvSpPr>
          <p:cNvPr id="4" name="Slide Number Placeholder 3">
            <a:extLst>
              <a:ext uri="{FF2B5EF4-FFF2-40B4-BE49-F238E27FC236}">
                <a16:creationId xmlns:a16="http://schemas.microsoft.com/office/drawing/2014/main" id="{8B430294-C9F7-03B4-4A95-FA54D3D3306C}"/>
              </a:ext>
            </a:extLst>
          </p:cNvPr>
          <p:cNvSpPr>
            <a:spLocks noGrp="1"/>
          </p:cNvSpPr>
          <p:nvPr>
            <p:ph type="sldNum" sz="quarter" idx="5"/>
          </p:nvPr>
        </p:nvSpPr>
        <p:spPr/>
        <p:txBody>
          <a:bodyPr/>
          <a:lstStyle/>
          <a:p>
            <a:fld id="{C6ED02C3-1740-41D0-BAE7-AD128769DC12}" type="slidenum">
              <a:rPr lang="fa-IR" smtClean="0"/>
              <a:t>28</a:t>
            </a:fld>
            <a:endParaRPr lang="fa-IR"/>
          </a:p>
        </p:txBody>
      </p:sp>
    </p:spTree>
    <p:extLst>
      <p:ext uri="{BB962C8B-B14F-4D97-AF65-F5344CB8AC3E}">
        <p14:creationId xmlns:p14="http://schemas.microsoft.com/office/powerpoint/2010/main" val="2832865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C1699-5A46-43D9-8290-0477A9982F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a:extLst>
              <a:ext uri="{FF2B5EF4-FFF2-40B4-BE49-F238E27FC236}">
                <a16:creationId xmlns:a16="http://schemas.microsoft.com/office/drawing/2014/main" id="{06BB67BC-E6C6-44BF-ACA6-45B179A38C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a:extLst>
              <a:ext uri="{FF2B5EF4-FFF2-40B4-BE49-F238E27FC236}">
                <a16:creationId xmlns:a16="http://schemas.microsoft.com/office/drawing/2014/main" id="{759DD4D2-846F-42BE-BE5D-B5FA59141E2A}"/>
              </a:ext>
            </a:extLst>
          </p:cNvPr>
          <p:cNvSpPr>
            <a:spLocks noGrp="1"/>
          </p:cNvSpPr>
          <p:nvPr>
            <p:ph type="dt" sz="half" idx="10"/>
          </p:nvPr>
        </p:nvSpPr>
        <p:spPr/>
        <p:txBody>
          <a:bodyPr/>
          <a:lstStyle/>
          <a:p>
            <a:fld id="{68875E0D-5092-410E-B5CB-512F727EC1BB}" type="datetime8">
              <a:rPr lang="fa-IR" smtClean="0"/>
              <a:t>20 ژوئيه 26</a:t>
            </a:fld>
            <a:endParaRPr lang="fa-IR"/>
          </a:p>
        </p:txBody>
      </p:sp>
      <p:sp>
        <p:nvSpPr>
          <p:cNvPr id="5" name="Footer Placeholder 4">
            <a:extLst>
              <a:ext uri="{FF2B5EF4-FFF2-40B4-BE49-F238E27FC236}">
                <a16:creationId xmlns:a16="http://schemas.microsoft.com/office/drawing/2014/main" id="{1F785441-C5B1-42D5-9056-77FBC1873C96}"/>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6" name="Slide Number Placeholder 5">
            <a:extLst>
              <a:ext uri="{FF2B5EF4-FFF2-40B4-BE49-F238E27FC236}">
                <a16:creationId xmlns:a16="http://schemas.microsoft.com/office/drawing/2014/main" id="{C482A2A8-FD3C-4C7B-9DF1-E5D5A4CF60D7}"/>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2587493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3C8DA-5BFC-4546-A231-3F500720AAB6}"/>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F5F8A3DC-0655-4E17-97BB-AB87FE940E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0CED4485-931F-4449-96F0-C9D20500C58A}"/>
              </a:ext>
            </a:extLst>
          </p:cNvPr>
          <p:cNvSpPr>
            <a:spLocks noGrp="1"/>
          </p:cNvSpPr>
          <p:nvPr>
            <p:ph type="dt" sz="half" idx="10"/>
          </p:nvPr>
        </p:nvSpPr>
        <p:spPr/>
        <p:txBody>
          <a:bodyPr/>
          <a:lstStyle/>
          <a:p>
            <a:fld id="{FF1C6A9A-D0AD-434E-96D0-1293DD692ABD}" type="datetime8">
              <a:rPr lang="fa-IR" smtClean="0"/>
              <a:t>20 ژوئيه 26</a:t>
            </a:fld>
            <a:endParaRPr lang="fa-IR"/>
          </a:p>
        </p:txBody>
      </p:sp>
      <p:sp>
        <p:nvSpPr>
          <p:cNvPr id="5" name="Footer Placeholder 4">
            <a:extLst>
              <a:ext uri="{FF2B5EF4-FFF2-40B4-BE49-F238E27FC236}">
                <a16:creationId xmlns:a16="http://schemas.microsoft.com/office/drawing/2014/main" id="{B91EDB00-CADA-4FB6-9520-45F50205E0E3}"/>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6" name="Slide Number Placeholder 5">
            <a:extLst>
              <a:ext uri="{FF2B5EF4-FFF2-40B4-BE49-F238E27FC236}">
                <a16:creationId xmlns:a16="http://schemas.microsoft.com/office/drawing/2014/main" id="{35D92229-94F1-4390-BD23-CE942B47A143}"/>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3685462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DE6C-FCE6-475E-8666-C95E0E3C1E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a-IR"/>
          </a:p>
        </p:txBody>
      </p:sp>
      <p:sp>
        <p:nvSpPr>
          <p:cNvPr id="3" name="Text Placeholder 2">
            <a:extLst>
              <a:ext uri="{FF2B5EF4-FFF2-40B4-BE49-F238E27FC236}">
                <a16:creationId xmlns:a16="http://schemas.microsoft.com/office/drawing/2014/main" id="{BC02D375-4F24-4AD9-BCE9-30CE55CFC8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FDD931-100C-41C8-97BE-DA9C2B86EDB3}"/>
              </a:ext>
            </a:extLst>
          </p:cNvPr>
          <p:cNvSpPr>
            <a:spLocks noGrp="1"/>
          </p:cNvSpPr>
          <p:nvPr>
            <p:ph type="dt" sz="half" idx="10"/>
          </p:nvPr>
        </p:nvSpPr>
        <p:spPr/>
        <p:txBody>
          <a:bodyPr/>
          <a:lstStyle/>
          <a:p>
            <a:fld id="{59A5A9B0-7963-49E3-82A1-6A8D5AEA9C00}" type="datetime8">
              <a:rPr lang="fa-IR" smtClean="0"/>
              <a:t>20 ژوئيه 26</a:t>
            </a:fld>
            <a:endParaRPr lang="fa-IR"/>
          </a:p>
        </p:txBody>
      </p:sp>
      <p:sp>
        <p:nvSpPr>
          <p:cNvPr id="5" name="Footer Placeholder 4">
            <a:extLst>
              <a:ext uri="{FF2B5EF4-FFF2-40B4-BE49-F238E27FC236}">
                <a16:creationId xmlns:a16="http://schemas.microsoft.com/office/drawing/2014/main" id="{82176939-EEEF-4442-9986-30ED7D9A1595}"/>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6" name="Slide Number Placeholder 5">
            <a:extLst>
              <a:ext uri="{FF2B5EF4-FFF2-40B4-BE49-F238E27FC236}">
                <a16:creationId xmlns:a16="http://schemas.microsoft.com/office/drawing/2014/main" id="{DE6D1B97-7CF5-44D9-B7A1-835371D641F3}"/>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417003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69C48-D2E5-4D7A-88EC-A974C3F1080E}"/>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2155F39B-2DAC-4006-AD21-D24AD18037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Content Placeholder 3">
            <a:extLst>
              <a:ext uri="{FF2B5EF4-FFF2-40B4-BE49-F238E27FC236}">
                <a16:creationId xmlns:a16="http://schemas.microsoft.com/office/drawing/2014/main" id="{504320C5-4653-46B7-9854-ECA801B076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Date Placeholder 4">
            <a:extLst>
              <a:ext uri="{FF2B5EF4-FFF2-40B4-BE49-F238E27FC236}">
                <a16:creationId xmlns:a16="http://schemas.microsoft.com/office/drawing/2014/main" id="{D612BE61-B12D-43EA-BA6B-0152F4D65F8F}"/>
              </a:ext>
            </a:extLst>
          </p:cNvPr>
          <p:cNvSpPr>
            <a:spLocks noGrp="1"/>
          </p:cNvSpPr>
          <p:nvPr>
            <p:ph type="dt" sz="half" idx="10"/>
          </p:nvPr>
        </p:nvSpPr>
        <p:spPr/>
        <p:txBody>
          <a:bodyPr/>
          <a:lstStyle/>
          <a:p>
            <a:fld id="{4C1914F7-A992-46D0-9C82-02F07145B429}" type="datetime8">
              <a:rPr lang="fa-IR" smtClean="0"/>
              <a:t>20 ژوئيه 26</a:t>
            </a:fld>
            <a:endParaRPr lang="fa-IR"/>
          </a:p>
        </p:txBody>
      </p:sp>
      <p:sp>
        <p:nvSpPr>
          <p:cNvPr id="6" name="Footer Placeholder 5">
            <a:extLst>
              <a:ext uri="{FF2B5EF4-FFF2-40B4-BE49-F238E27FC236}">
                <a16:creationId xmlns:a16="http://schemas.microsoft.com/office/drawing/2014/main" id="{9F26488F-86B6-4A1D-B581-AE67B778231B}"/>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7" name="Slide Number Placeholder 6">
            <a:extLst>
              <a:ext uri="{FF2B5EF4-FFF2-40B4-BE49-F238E27FC236}">
                <a16:creationId xmlns:a16="http://schemas.microsoft.com/office/drawing/2014/main" id="{9B73BC1A-7053-4471-90A9-4D146CCCD618}"/>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1096448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742CE-86D1-4719-9FB9-6B2761B2F8D2}"/>
              </a:ext>
            </a:extLst>
          </p:cNvPr>
          <p:cNvSpPr>
            <a:spLocks noGrp="1"/>
          </p:cNvSpPr>
          <p:nvPr>
            <p:ph type="title"/>
          </p:nvPr>
        </p:nvSpPr>
        <p:spPr>
          <a:xfrm>
            <a:off x="839788" y="365125"/>
            <a:ext cx="10515600" cy="1325563"/>
          </a:xfrm>
        </p:spPr>
        <p:txBody>
          <a:bodyPr/>
          <a:lstStyle/>
          <a:p>
            <a:r>
              <a:rPr lang="en-US"/>
              <a:t>Click to edit Master title style</a:t>
            </a:r>
            <a:endParaRPr lang="fa-IR"/>
          </a:p>
        </p:txBody>
      </p:sp>
      <p:sp>
        <p:nvSpPr>
          <p:cNvPr id="3" name="Text Placeholder 2">
            <a:extLst>
              <a:ext uri="{FF2B5EF4-FFF2-40B4-BE49-F238E27FC236}">
                <a16:creationId xmlns:a16="http://schemas.microsoft.com/office/drawing/2014/main" id="{E007F3C9-5009-4823-BD0B-2E7C7A42B3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9606EF-2413-4FA7-87F1-AF55316521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Text Placeholder 4">
            <a:extLst>
              <a:ext uri="{FF2B5EF4-FFF2-40B4-BE49-F238E27FC236}">
                <a16:creationId xmlns:a16="http://schemas.microsoft.com/office/drawing/2014/main" id="{3967465D-870F-4B6C-B943-8D5E3A870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3404EF-0469-4F06-BF6D-DE5BFD3EC3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7" name="Date Placeholder 6">
            <a:extLst>
              <a:ext uri="{FF2B5EF4-FFF2-40B4-BE49-F238E27FC236}">
                <a16:creationId xmlns:a16="http://schemas.microsoft.com/office/drawing/2014/main" id="{7B5ABFEB-EBC6-4475-8CB5-674EE1D2BE92}"/>
              </a:ext>
            </a:extLst>
          </p:cNvPr>
          <p:cNvSpPr>
            <a:spLocks noGrp="1"/>
          </p:cNvSpPr>
          <p:nvPr>
            <p:ph type="dt" sz="half" idx="10"/>
          </p:nvPr>
        </p:nvSpPr>
        <p:spPr/>
        <p:txBody>
          <a:bodyPr/>
          <a:lstStyle/>
          <a:p>
            <a:fld id="{07AC5137-19C7-4437-B3F7-1C4A06D80738}" type="datetime8">
              <a:rPr lang="fa-IR" smtClean="0"/>
              <a:t>20 ژوئيه 26</a:t>
            </a:fld>
            <a:endParaRPr lang="fa-IR"/>
          </a:p>
        </p:txBody>
      </p:sp>
      <p:sp>
        <p:nvSpPr>
          <p:cNvPr id="8" name="Footer Placeholder 7">
            <a:extLst>
              <a:ext uri="{FF2B5EF4-FFF2-40B4-BE49-F238E27FC236}">
                <a16:creationId xmlns:a16="http://schemas.microsoft.com/office/drawing/2014/main" id="{0C6FCF58-4D7F-49AA-939D-D6C4BBFB7EDC}"/>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9" name="Slide Number Placeholder 8">
            <a:extLst>
              <a:ext uri="{FF2B5EF4-FFF2-40B4-BE49-F238E27FC236}">
                <a16:creationId xmlns:a16="http://schemas.microsoft.com/office/drawing/2014/main" id="{8723100C-E701-43E8-9EAB-F0AC90E3ECBA}"/>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204171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402C-356A-4263-8241-608E664E96C3}"/>
              </a:ext>
            </a:extLst>
          </p:cNvPr>
          <p:cNvSpPr>
            <a:spLocks noGrp="1"/>
          </p:cNvSpPr>
          <p:nvPr>
            <p:ph type="title"/>
          </p:nvPr>
        </p:nvSpPr>
        <p:spPr/>
        <p:txBody>
          <a:bodyPr/>
          <a:lstStyle/>
          <a:p>
            <a:r>
              <a:rPr lang="en-US"/>
              <a:t>Click to edit Master title style</a:t>
            </a:r>
            <a:endParaRPr lang="fa-IR"/>
          </a:p>
        </p:txBody>
      </p:sp>
      <p:sp>
        <p:nvSpPr>
          <p:cNvPr id="3" name="Date Placeholder 2">
            <a:extLst>
              <a:ext uri="{FF2B5EF4-FFF2-40B4-BE49-F238E27FC236}">
                <a16:creationId xmlns:a16="http://schemas.microsoft.com/office/drawing/2014/main" id="{6414E5B9-920E-4AF8-97ED-8FCAFE365B47}"/>
              </a:ext>
            </a:extLst>
          </p:cNvPr>
          <p:cNvSpPr>
            <a:spLocks noGrp="1"/>
          </p:cNvSpPr>
          <p:nvPr>
            <p:ph type="dt" sz="half" idx="10"/>
          </p:nvPr>
        </p:nvSpPr>
        <p:spPr/>
        <p:txBody>
          <a:bodyPr/>
          <a:lstStyle/>
          <a:p>
            <a:fld id="{16C1455B-5961-41EB-989E-6E9BDC39A4EE}" type="datetime8">
              <a:rPr lang="fa-IR" smtClean="0"/>
              <a:t>20 ژوئيه 26</a:t>
            </a:fld>
            <a:endParaRPr lang="fa-IR"/>
          </a:p>
        </p:txBody>
      </p:sp>
      <p:sp>
        <p:nvSpPr>
          <p:cNvPr id="4" name="Footer Placeholder 3">
            <a:extLst>
              <a:ext uri="{FF2B5EF4-FFF2-40B4-BE49-F238E27FC236}">
                <a16:creationId xmlns:a16="http://schemas.microsoft.com/office/drawing/2014/main" id="{6D02756F-B59A-4DE5-8B99-05B46A8CBEDE}"/>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1B1A68F5-5E24-43A5-AB7B-4A355C337221}"/>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3363494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1248EA-4CCC-4A7B-904C-8020881210DD}"/>
              </a:ext>
            </a:extLst>
          </p:cNvPr>
          <p:cNvSpPr>
            <a:spLocks noGrp="1"/>
          </p:cNvSpPr>
          <p:nvPr>
            <p:ph type="dt" sz="half" idx="10"/>
          </p:nvPr>
        </p:nvSpPr>
        <p:spPr/>
        <p:txBody>
          <a:bodyPr/>
          <a:lstStyle/>
          <a:p>
            <a:fld id="{FB78CBF3-2E11-4C9A-B60D-96960CCD820E}" type="datetime8">
              <a:rPr lang="fa-IR" smtClean="0"/>
              <a:t>20 ژوئيه 26</a:t>
            </a:fld>
            <a:endParaRPr lang="fa-IR"/>
          </a:p>
        </p:txBody>
      </p:sp>
      <p:sp>
        <p:nvSpPr>
          <p:cNvPr id="3" name="Footer Placeholder 2">
            <a:extLst>
              <a:ext uri="{FF2B5EF4-FFF2-40B4-BE49-F238E27FC236}">
                <a16:creationId xmlns:a16="http://schemas.microsoft.com/office/drawing/2014/main" id="{C4B142B0-C609-4A46-9DAC-AD8ECB2BD507}"/>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4" name="Slide Number Placeholder 3">
            <a:extLst>
              <a:ext uri="{FF2B5EF4-FFF2-40B4-BE49-F238E27FC236}">
                <a16:creationId xmlns:a16="http://schemas.microsoft.com/office/drawing/2014/main" id="{0EFC71EC-EE1A-4438-B304-E06860F51D19}"/>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3736754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E7729-57BC-4F97-B907-01E22492DD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Content Placeholder 2">
            <a:extLst>
              <a:ext uri="{FF2B5EF4-FFF2-40B4-BE49-F238E27FC236}">
                <a16:creationId xmlns:a16="http://schemas.microsoft.com/office/drawing/2014/main" id="{64F0693A-EEE8-4784-BDEC-B4C23C607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Text Placeholder 3">
            <a:extLst>
              <a:ext uri="{FF2B5EF4-FFF2-40B4-BE49-F238E27FC236}">
                <a16:creationId xmlns:a16="http://schemas.microsoft.com/office/drawing/2014/main" id="{6774318E-2A7A-4826-95C1-AFB08740D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B8AF66-C32C-4E53-A8B4-007D6E7BAC0B}"/>
              </a:ext>
            </a:extLst>
          </p:cNvPr>
          <p:cNvSpPr>
            <a:spLocks noGrp="1"/>
          </p:cNvSpPr>
          <p:nvPr>
            <p:ph type="dt" sz="half" idx="10"/>
          </p:nvPr>
        </p:nvSpPr>
        <p:spPr/>
        <p:txBody>
          <a:bodyPr/>
          <a:lstStyle/>
          <a:p>
            <a:fld id="{28587F47-A6DF-4CA6-82F6-B7F468AB8C27}" type="datetime8">
              <a:rPr lang="fa-IR" smtClean="0"/>
              <a:t>20 ژوئيه 26</a:t>
            </a:fld>
            <a:endParaRPr lang="fa-IR"/>
          </a:p>
        </p:txBody>
      </p:sp>
      <p:sp>
        <p:nvSpPr>
          <p:cNvPr id="6" name="Footer Placeholder 5">
            <a:extLst>
              <a:ext uri="{FF2B5EF4-FFF2-40B4-BE49-F238E27FC236}">
                <a16:creationId xmlns:a16="http://schemas.microsoft.com/office/drawing/2014/main" id="{F683794E-96DE-4204-B81E-7B72B11313BC}"/>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7" name="Slide Number Placeholder 6">
            <a:extLst>
              <a:ext uri="{FF2B5EF4-FFF2-40B4-BE49-F238E27FC236}">
                <a16:creationId xmlns:a16="http://schemas.microsoft.com/office/drawing/2014/main" id="{AFAD7FD5-A549-4DD8-A430-5CE33B32B0E5}"/>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2182030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F1705-4EE6-40B9-A623-313D59C32F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Picture Placeholder 2">
            <a:extLst>
              <a:ext uri="{FF2B5EF4-FFF2-40B4-BE49-F238E27FC236}">
                <a16:creationId xmlns:a16="http://schemas.microsoft.com/office/drawing/2014/main" id="{8D4572F8-29B0-4328-9B80-434853CBD3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a:extLst>
              <a:ext uri="{FF2B5EF4-FFF2-40B4-BE49-F238E27FC236}">
                <a16:creationId xmlns:a16="http://schemas.microsoft.com/office/drawing/2014/main" id="{2377A739-6599-4811-9FC5-07526E50C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B574C4-314D-42B3-9912-EE5BF154DADF}"/>
              </a:ext>
            </a:extLst>
          </p:cNvPr>
          <p:cNvSpPr>
            <a:spLocks noGrp="1"/>
          </p:cNvSpPr>
          <p:nvPr>
            <p:ph type="dt" sz="half" idx="10"/>
          </p:nvPr>
        </p:nvSpPr>
        <p:spPr/>
        <p:txBody>
          <a:bodyPr/>
          <a:lstStyle/>
          <a:p>
            <a:fld id="{983A5698-1B2E-4A4E-955C-A1C5C5B66AC0}" type="datetime8">
              <a:rPr lang="fa-IR" smtClean="0"/>
              <a:t>20 ژوئيه 26</a:t>
            </a:fld>
            <a:endParaRPr lang="fa-IR"/>
          </a:p>
        </p:txBody>
      </p:sp>
      <p:sp>
        <p:nvSpPr>
          <p:cNvPr id="6" name="Footer Placeholder 5">
            <a:extLst>
              <a:ext uri="{FF2B5EF4-FFF2-40B4-BE49-F238E27FC236}">
                <a16:creationId xmlns:a16="http://schemas.microsoft.com/office/drawing/2014/main" id="{1011C2F0-B58B-4501-8D8A-8E2280338296}"/>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7" name="Slide Number Placeholder 6">
            <a:extLst>
              <a:ext uri="{FF2B5EF4-FFF2-40B4-BE49-F238E27FC236}">
                <a16:creationId xmlns:a16="http://schemas.microsoft.com/office/drawing/2014/main" id="{FEC47F7C-D619-4946-831C-1A97AF6FCAAF}"/>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373925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3E3A-D759-412A-8648-0641ADCE38AA}"/>
              </a:ext>
            </a:extLst>
          </p:cNvPr>
          <p:cNvSpPr>
            <a:spLocks noGrp="1"/>
          </p:cNvSpPr>
          <p:nvPr>
            <p:ph type="title"/>
          </p:nvPr>
        </p:nvSpPr>
        <p:spPr/>
        <p:txBody>
          <a:bodyPr/>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5A01AE1A-8C01-46C7-877C-F68F45933F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555A4AC0-076C-4767-92D4-DA96A0FFDCE5}"/>
              </a:ext>
            </a:extLst>
          </p:cNvPr>
          <p:cNvSpPr>
            <a:spLocks noGrp="1"/>
          </p:cNvSpPr>
          <p:nvPr>
            <p:ph type="dt" sz="half" idx="10"/>
          </p:nvPr>
        </p:nvSpPr>
        <p:spPr/>
        <p:txBody>
          <a:bodyPr/>
          <a:lstStyle/>
          <a:p>
            <a:fld id="{BED96F4B-2CB0-4ED3-916D-6AF7EE54172A}" type="datetime8">
              <a:rPr lang="fa-IR" smtClean="0"/>
              <a:t>20 ژوئيه 26</a:t>
            </a:fld>
            <a:endParaRPr lang="fa-IR"/>
          </a:p>
        </p:txBody>
      </p:sp>
      <p:sp>
        <p:nvSpPr>
          <p:cNvPr id="5" name="Footer Placeholder 4">
            <a:extLst>
              <a:ext uri="{FF2B5EF4-FFF2-40B4-BE49-F238E27FC236}">
                <a16:creationId xmlns:a16="http://schemas.microsoft.com/office/drawing/2014/main" id="{F13951EC-CE53-41A1-9D92-731F6A6FF32E}"/>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6" name="Slide Number Placeholder 5">
            <a:extLst>
              <a:ext uri="{FF2B5EF4-FFF2-40B4-BE49-F238E27FC236}">
                <a16:creationId xmlns:a16="http://schemas.microsoft.com/office/drawing/2014/main" id="{B7A0E2EC-4C29-420F-A59E-B1702B2FA0AD}"/>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929333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020E11-B5DE-4066-AD32-902E99345E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D31E4621-0B82-4F7D-8B31-F0EE41D612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9FAD1182-5F42-4BA0-8517-6612D35E56A5}"/>
              </a:ext>
            </a:extLst>
          </p:cNvPr>
          <p:cNvSpPr>
            <a:spLocks noGrp="1"/>
          </p:cNvSpPr>
          <p:nvPr>
            <p:ph type="dt" sz="half" idx="10"/>
          </p:nvPr>
        </p:nvSpPr>
        <p:spPr/>
        <p:txBody>
          <a:bodyPr/>
          <a:lstStyle/>
          <a:p>
            <a:fld id="{CC25A6CD-838C-4D55-B75C-7B20A7ED3AD6}" type="datetime8">
              <a:rPr lang="fa-IR" smtClean="0"/>
              <a:t>20 ژوئيه 26</a:t>
            </a:fld>
            <a:endParaRPr lang="fa-IR"/>
          </a:p>
        </p:txBody>
      </p:sp>
      <p:sp>
        <p:nvSpPr>
          <p:cNvPr id="5" name="Footer Placeholder 4">
            <a:extLst>
              <a:ext uri="{FF2B5EF4-FFF2-40B4-BE49-F238E27FC236}">
                <a16:creationId xmlns:a16="http://schemas.microsoft.com/office/drawing/2014/main" id="{4B0DD2CD-5D07-4E6D-945A-400C89558933}"/>
              </a:ext>
            </a:extLst>
          </p:cNvPr>
          <p:cNvSpPr>
            <a:spLocks noGrp="1"/>
          </p:cNvSpPr>
          <p:nvPr>
            <p:ph type="ftr" sz="quarter" idx="11"/>
          </p:nvPr>
        </p:nvSpPr>
        <p:spPr/>
        <p:txBody>
          <a:bodyPr/>
          <a:lstStyle/>
          <a:p>
            <a:pPr algn="l"/>
            <a:r>
              <a:rPr lang="en-US" cap="all" dirty="0">
                <a:solidFill>
                  <a:srgbClr val="6B7A90"/>
                </a:solidFill>
                <a:latin typeface="-apple-system"/>
              </a:rPr>
              <a:t>Smart Car System Design — University of Tabriz</a:t>
            </a:r>
            <a:endParaRPr lang="fa-IR" dirty="0"/>
          </a:p>
        </p:txBody>
      </p:sp>
      <p:sp>
        <p:nvSpPr>
          <p:cNvPr id="6" name="Slide Number Placeholder 5">
            <a:extLst>
              <a:ext uri="{FF2B5EF4-FFF2-40B4-BE49-F238E27FC236}">
                <a16:creationId xmlns:a16="http://schemas.microsoft.com/office/drawing/2014/main" id="{25C7473B-3B21-4E86-ADE0-EE36D418CC1C}"/>
              </a:ext>
            </a:extLst>
          </p:cNvPr>
          <p:cNvSpPr>
            <a:spLocks noGrp="1"/>
          </p:cNvSpPr>
          <p:nvPr>
            <p:ph type="sldNum" sz="quarter" idx="12"/>
          </p:nvPr>
        </p:nvSpPr>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1195029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636771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a-IR" dirty="0"/>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3E115C03-0B17-4C87-BF1E-AD40082E1947}"/>
              </a:ext>
            </a:extLst>
          </p:cNvPr>
          <p:cNvSpPr>
            <a:spLocks noGrp="1"/>
          </p:cNvSpPr>
          <p:nvPr>
            <p:ph type="ftr" sz="quarter" idx="3"/>
          </p:nvPr>
        </p:nvSpPr>
        <p:spPr>
          <a:xfrm>
            <a:off x="838200" y="6446835"/>
            <a:ext cx="4114800" cy="365125"/>
          </a:xfrm>
          <a:prstGeom prst="rect">
            <a:avLst/>
          </a:prstGeom>
        </p:spPr>
        <p:txBody>
          <a:bodyPr vert="horz" lIns="91440" tIns="45720" rIns="91440" bIns="45720" rtlCol="0" anchor="ctr"/>
          <a:lstStyle>
            <a:lvl1pPr algn="ctr">
              <a:defRPr sz="1200">
                <a:solidFill>
                  <a:schemeClr val="bg1"/>
                </a:solidFill>
              </a:defRPr>
            </a:lvl1pPr>
          </a:lstStyle>
          <a:p>
            <a:pPr algn="l"/>
            <a:r>
              <a:rPr lang="en-US" cap="all" dirty="0">
                <a:latin typeface="-apple-system"/>
              </a:rPr>
              <a:t>Smart Car System Design — University of Tabriz</a:t>
            </a:r>
            <a:endParaRPr lang="fa-IR" dirty="0"/>
          </a:p>
        </p:txBody>
      </p:sp>
      <p:sp>
        <p:nvSpPr>
          <p:cNvPr id="11" name="Date Placeholder 3">
            <a:extLst>
              <a:ext uri="{FF2B5EF4-FFF2-40B4-BE49-F238E27FC236}">
                <a16:creationId xmlns:a16="http://schemas.microsoft.com/office/drawing/2014/main" id="{9293A717-E7F5-4052-AB2D-2F357DAD2083}"/>
              </a:ext>
            </a:extLst>
          </p:cNvPr>
          <p:cNvSpPr>
            <a:spLocks noGrp="1"/>
          </p:cNvSpPr>
          <p:nvPr>
            <p:ph type="dt" sz="half" idx="2"/>
          </p:nvPr>
        </p:nvSpPr>
        <p:spPr>
          <a:xfrm>
            <a:off x="5410200" y="6446836"/>
            <a:ext cx="2743200" cy="365125"/>
          </a:xfrm>
          <a:prstGeom prst="rect">
            <a:avLst/>
          </a:prstGeom>
        </p:spPr>
        <p:txBody>
          <a:bodyPr vert="horz" lIns="91440" tIns="45720" rIns="91440" bIns="45720" rtlCol="0" anchor="ctr"/>
          <a:lstStyle>
            <a:lvl1pPr algn="r">
              <a:defRPr sz="1200">
                <a:solidFill>
                  <a:schemeClr val="bg1"/>
                </a:solidFill>
              </a:defRPr>
            </a:lvl1pPr>
          </a:lstStyle>
          <a:p>
            <a:fld id="{6CC7D332-AB94-43FB-831A-40F69AF965FE}" type="datetime8">
              <a:rPr lang="fa-IR" smtClean="0"/>
              <a:pPr/>
              <a:t>20 ژوئيه 26</a:t>
            </a:fld>
            <a:endParaRPr lang="fa-IR" dirty="0"/>
          </a:p>
        </p:txBody>
      </p:sp>
      <p:sp>
        <p:nvSpPr>
          <p:cNvPr id="12" name="Slide Number Placeholder 5">
            <a:extLst>
              <a:ext uri="{FF2B5EF4-FFF2-40B4-BE49-F238E27FC236}">
                <a16:creationId xmlns:a16="http://schemas.microsoft.com/office/drawing/2014/main" id="{63D2F85F-7676-4641-8A28-A948CF1AC43B}"/>
              </a:ext>
            </a:extLst>
          </p:cNvPr>
          <p:cNvSpPr>
            <a:spLocks noGrp="1"/>
          </p:cNvSpPr>
          <p:nvPr>
            <p:ph type="sldNum" sz="quarter" idx="4"/>
          </p:nvPr>
        </p:nvSpPr>
        <p:spPr>
          <a:xfrm>
            <a:off x="8610600" y="6446837"/>
            <a:ext cx="2743200" cy="365125"/>
          </a:xfrm>
          <a:prstGeom prst="rect">
            <a:avLst/>
          </a:prstGeom>
        </p:spPr>
        <p:txBody>
          <a:bodyPr vert="horz" lIns="91440" tIns="45720" rIns="91440" bIns="45720" rtlCol="0" anchor="ctr"/>
          <a:lstStyle>
            <a:lvl1pPr algn="r">
              <a:defRPr sz="1200">
                <a:solidFill>
                  <a:schemeClr val="bg1"/>
                </a:solidFill>
              </a:defRPr>
            </a:lvl1pPr>
          </a:lstStyle>
          <a:p>
            <a:fld id="{84E4409A-E250-43DE-AEC0-E766029F0D9A}" type="slidenum">
              <a:rPr lang="fa-IR" smtClean="0"/>
              <a:pPr/>
              <a:t>‹#›</a:t>
            </a:fld>
            <a:endParaRPr lang="fa-IR" dirty="0"/>
          </a:p>
        </p:txBody>
      </p:sp>
    </p:spTree>
    <p:extLst>
      <p:ext uri="{BB962C8B-B14F-4D97-AF65-F5344CB8AC3E}">
        <p14:creationId xmlns:p14="http://schemas.microsoft.com/office/powerpoint/2010/main" val="3455720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60CD6453-C71F-47B9-BBD7-3A29080A569E}"/>
              </a:ext>
            </a:extLst>
          </p:cNvPr>
          <p:cNvSpPr>
            <a:spLocks noGrp="1"/>
          </p:cNvSpPr>
          <p:nvPr>
            <p:ph type="ftr" sz="quarter" idx="3"/>
          </p:nvPr>
        </p:nvSpPr>
        <p:spPr>
          <a:xfrm>
            <a:off x="838200" y="6446835"/>
            <a:ext cx="4114800" cy="365125"/>
          </a:xfrm>
          <a:prstGeom prst="rect">
            <a:avLst/>
          </a:prstGeom>
        </p:spPr>
        <p:txBody>
          <a:bodyPr vert="horz" lIns="91440" tIns="45720" rIns="91440" bIns="45720" rtlCol="0" anchor="ctr"/>
          <a:lstStyle>
            <a:lvl1pPr algn="ctr">
              <a:defRPr sz="1200">
                <a:solidFill>
                  <a:schemeClr val="bg1"/>
                </a:solidFill>
              </a:defRPr>
            </a:lvl1pPr>
          </a:lstStyle>
          <a:p>
            <a:pPr algn="l"/>
            <a:r>
              <a:rPr lang="en-US" cap="all" dirty="0">
                <a:latin typeface="-apple-system"/>
              </a:rPr>
              <a:t>Smart Car System Design — University of Tabriz</a:t>
            </a:r>
            <a:endParaRPr lang="fa-IR" dirty="0"/>
          </a:p>
        </p:txBody>
      </p:sp>
      <p:sp>
        <p:nvSpPr>
          <p:cNvPr id="8" name="Date Placeholder 3">
            <a:extLst>
              <a:ext uri="{FF2B5EF4-FFF2-40B4-BE49-F238E27FC236}">
                <a16:creationId xmlns:a16="http://schemas.microsoft.com/office/drawing/2014/main" id="{776477BB-E9F8-44B6-A89D-BB03F4A726C5}"/>
              </a:ext>
            </a:extLst>
          </p:cNvPr>
          <p:cNvSpPr>
            <a:spLocks noGrp="1"/>
          </p:cNvSpPr>
          <p:nvPr>
            <p:ph type="dt" sz="half" idx="2"/>
          </p:nvPr>
        </p:nvSpPr>
        <p:spPr>
          <a:xfrm>
            <a:off x="5410200" y="6446836"/>
            <a:ext cx="2743200" cy="365125"/>
          </a:xfrm>
          <a:prstGeom prst="rect">
            <a:avLst/>
          </a:prstGeom>
        </p:spPr>
        <p:txBody>
          <a:bodyPr vert="horz" lIns="91440" tIns="45720" rIns="91440" bIns="45720" rtlCol="0" anchor="ctr"/>
          <a:lstStyle>
            <a:lvl1pPr algn="r">
              <a:defRPr sz="1200">
                <a:solidFill>
                  <a:schemeClr val="bg1"/>
                </a:solidFill>
              </a:defRPr>
            </a:lvl1pPr>
          </a:lstStyle>
          <a:p>
            <a:fld id="{6CC7D332-AB94-43FB-831A-40F69AF965FE}" type="datetime8">
              <a:rPr lang="fa-IR" smtClean="0"/>
              <a:pPr/>
              <a:t>20 ژوئيه 26</a:t>
            </a:fld>
            <a:endParaRPr lang="fa-IR" dirty="0"/>
          </a:p>
        </p:txBody>
      </p:sp>
      <p:sp>
        <p:nvSpPr>
          <p:cNvPr id="9" name="Slide Number Placeholder 5">
            <a:extLst>
              <a:ext uri="{FF2B5EF4-FFF2-40B4-BE49-F238E27FC236}">
                <a16:creationId xmlns:a16="http://schemas.microsoft.com/office/drawing/2014/main" id="{9F6A008B-5D1E-469F-B4F6-AB76C675782A}"/>
              </a:ext>
            </a:extLst>
          </p:cNvPr>
          <p:cNvSpPr>
            <a:spLocks noGrp="1"/>
          </p:cNvSpPr>
          <p:nvPr>
            <p:ph type="sldNum" sz="quarter" idx="4"/>
          </p:nvPr>
        </p:nvSpPr>
        <p:spPr>
          <a:xfrm>
            <a:off x="8610600" y="6446837"/>
            <a:ext cx="2743200" cy="365125"/>
          </a:xfrm>
          <a:prstGeom prst="rect">
            <a:avLst/>
          </a:prstGeom>
        </p:spPr>
        <p:txBody>
          <a:bodyPr vert="horz" lIns="91440" tIns="45720" rIns="91440" bIns="45720" rtlCol="0" anchor="ctr"/>
          <a:lstStyle>
            <a:lvl1pPr algn="r">
              <a:defRPr sz="1200">
                <a:solidFill>
                  <a:schemeClr val="bg1"/>
                </a:solidFill>
              </a:defRPr>
            </a:lvl1pPr>
          </a:lstStyle>
          <a:p>
            <a:fld id="{84E4409A-E250-43DE-AEC0-E766029F0D9A}" type="slidenum">
              <a:rPr lang="fa-IR" smtClean="0"/>
              <a:pPr/>
              <a:t>‹#›</a:t>
            </a:fld>
            <a:endParaRPr lang="fa-IR" dirty="0"/>
          </a:p>
        </p:txBody>
      </p:sp>
    </p:spTree>
    <p:extLst>
      <p:ext uri="{BB962C8B-B14F-4D97-AF65-F5344CB8AC3E}">
        <p14:creationId xmlns:p14="http://schemas.microsoft.com/office/powerpoint/2010/main" val="3061082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59A5A9B0-7963-49E3-82A1-6A8D5AEA9C00}" type="datetime8">
              <a:rPr lang="fa-IR" smtClean="0"/>
              <a:t>20 ژوئيه 26</a:t>
            </a:fld>
            <a:endParaRPr lang="fa-IR"/>
          </a:p>
        </p:txBody>
      </p:sp>
      <p:sp>
        <p:nvSpPr>
          <p:cNvPr id="5" name="Footer Placeholder 4"/>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6" name="Slide Number Placeholder 5"/>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923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4C1914F7-A992-46D0-9C82-02F07145B429}" type="datetime8">
              <a:rPr lang="fa-IR" smtClean="0"/>
              <a:t>20 ژوئيه 26</a:t>
            </a:fld>
            <a:endParaRPr lang="fa-IR"/>
          </a:p>
        </p:txBody>
      </p:sp>
      <p:sp>
        <p:nvSpPr>
          <p:cNvPr id="6" name="Footer Placeholder 5"/>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7" name="Slide Number Placeholder 6"/>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1844266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97280" y="6459785"/>
            <a:ext cx="2472271" cy="365125"/>
          </a:xfrm>
          <a:prstGeom prst="rect">
            <a:avLst/>
          </a:prstGeom>
        </p:spPr>
        <p:txBody>
          <a:bodyPr/>
          <a:lstStyle/>
          <a:p>
            <a:fld id="{07AC5137-19C7-4437-B3F7-1C4A06D80738}" type="datetime8">
              <a:rPr lang="fa-IR" smtClean="0"/>
              <a:t>20 ژوئيه 26</a:t>
            </a:fld>
            <a:endParaRPr lang="fa-IR"/>
          </a:p>
        </p:txBody>
      </p:sp>
      <p:sp>
        <p:nvSpPr>
          <p:cNvPr id="8" name="Footer Placeholder 7"/>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9" name="Slide Number Placeholder 8"/>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3728620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97280" y="6459785"/>
            <a:ext cx="2472271" cy="365125"/>
          </a:xfrm>
          <a:prstGeom prst="rect">
            <a:avLst/>
          </a:prstGeom>
        </p:spPr>
        <p:txBody>
          <a:bodyPr/>
          <a:lstStyle/>
          <a:p>
            <a:fld id="{16C1455B-5961-41EB-989E-6E9BDC39A4EE}" type="datetime8">
              <a:rPr lang="fa-IR" smtClean="0"/>
              <a:t>20 ژوئيه 26</a:t>
            </a:fld>
            <a:endParaRPr lang="fa-IR"/>
          </a:p>
        </p:txBody>
      </p:sp>
      <p:sp>
        <p:nvSpPr>
          <p:cNvPr id="4" name="Footer Placeholder 3"/>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5" name="Slide Number Placeholder 4"/>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12712631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a:xfrm>
            <a:off x="1097280" y="6459785"/>
            <a:ext cx="2472271" cy="365125"/>
          </a:xfrm>
          <a:prstGeom prst="rect">
            <a:avLst/>
          </a:prstGeom>
        </p:spPr>
        <p:txBody>
          <a:bodyPr/>
          <a:lstStyle/>
          <a:p>
            <a:fld id="{FB78CBF3-2E11-4C9A-B60D-96960CCD820E}" type="datetime8">
              <a:rPr lang="fa-IR" smtClean="0"/>
              <a:t>20 ژوئيه 26</a:t>
            </a:fld>
            <a:endParaRPr lang="fa-IR"/>
          </a:p>
        </p:txBody>
      </p:sp>
      <p:sp>
        <p:nvSpPr>
          <p:cNvPr id="8" name="Footer Placeholder 7"/>
          <p:cNvSpPr>
            <a:spLocks noGrp="1"/>
          </p:cNvSpPr>
          <p:nvPr>
            <p:ph type="ftr" sz="quarter" idx="11"/>
          </p:nvPr>
        </p:nvSpPr>
        <p:spPr>
          <a:xfrm>
            <a:off x="3686185" y="6459785"/>
            <a:ext cx="4822804" cy="365125"/>
          </a:xfrm>
          <a:prstGeom prst="rect">
            <a:avLst/>
          </a:prstGeom>
        </p:spPr>
        <p:txBody>
          <a:bodyPr/>
          <a:lstStyle>
            <a:lvl1pPr>
              <a:defRPr>
                <a:solidFill>
                  <a:srgbClr val="FFFFFF"/>
                </a:solidFill>
              </a:defRPr>
            </a:lvl1pPr>
          </a:lstStyle>
          <a:p>
            <a:pPr algn="l"/>
            <a:r>
              <a:rPr lang="en-US" cap="all">
                <a:solidFill>
                  <a:srgbClr val="6B7A90"/>
                </a:solidFill>
                <a:latin typeface="-apple-system"/>
              </a:rPr>
              <a:t>Smart Car System Design — University of Tabriz</a:t>
            </a:r>
            <a:endParaRPr lang="fa-IR" dirty="0"/>
          </a:p>
        </p:txBody>
      </p:sp>
      <p:sp>
        <p:nvSpPr>
          <p:cNvPr id="9" name="Slide Number Placeholder 8"/>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243361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a:prstGeom prst="rect">
            <a:avLst/>
          </a:prstGeom>
        </p:spPr>
        <p:txBody>
          <a:bodyPr/>
          <a:lstStyle>
            <a:lvl1pPr algn="l">
              <a:defRPr/>
            </a:lvl1pPr>
          </a:lstStyle>
          <a:p>
            <a:fld id="{28587F47-A6DF-4CA6-82F6-B7F468AB8C27}" type="datetime8">
              <a:rPr lang="fa-IR" smtClean="0"/>
              <a:t>20 ژوئيه 26</a:t>
            </a:fld>
            <a:endParaRPr lang="fa-IR"/>
          </a:p>
        </p:txBody>
      </p:sp>
      <p:sp>
        <p:nvSpPr>
          <p:cNvPr id="6" name="Footer Placeholder 5"/>
          <p:cNvSpPr>
            <a:spLocks noGrp="1"/>
          </p:cNvSpPr>
          <p:nvPr>
            <p:ph type="ftr" sz="quarter" idx="11"/>
          </p:nvPr>
        </p:nvSpPr>
        <p:spPr>
          <a:xfrm>
            <a:off x="4800600" y="6459785"/>
            <a:ext cx="4648200" cy="365125"/>
          </a:xfrm>
          <a:prstGeom prst="rect">
            <a:avLst/>
          </a:prstGeom>
        </p:spPr>
        <p:txBody>
          <a:bodyPr/>
          <a:lstStyle>
            <a:lvl1pPr algn="l">
              <a:defRPr>
                <a:solidFill>
                  <a:schemeClr val="tx2"/>
                </a:solidFill>
              </a:defRPr>
            </a:lvl1pPr>
          </a:lstStyle>
          <a:p>
            <a:pPr algn="l"/>
            <a:r>
              <a:rPr lang="en-US" cap="all">
                <a:solidFill>
                  <a:srgbClr val="6B7A90"/>
                </a:solidFill>
                <a:latin typeface="-apple-system"/>
              </a:rPr>
              <a:t>Smart Car System Design — University of Tabriz</a:t>
            </a:r>
            <a:endParaRPr lang="fa-IR" dirty="0"/>
          </a:p>
        </p:txBody>
      </p:sp>
      <p:sp>
        <p:nvSpPr>
          <p:cNvPr id="7" name="Slide Number Placeholder 6"/>
          <p:cNvSpPr>
            <a:spLocks noGrp="1"/>
          </p:cNvSpPr>
          <p:nvPr>
            <p:ph type="sldNum" sz="quarter" idx="12"/>
          </p:nvPr>
        </p:nvSpPr>
        <p:spPr>
          <a:xfrm>
            <a:off x="9900458" y="6459785"/>
            <a:ext cx="1312025" cy="365125"/>
          </a:xfrm>
          <a:prstGeom prst="rect">
            <a:avLst/>
          </a:prstGeom>
        </p:spPr>
        <p:txBody>
          <a:bodyPr/>
          <a:lstStyle>
            <a:lvl1pPr>
              <a:defRPr>
                <a:solidFill>
                  <a:schemeClr val="tx2"/>
                </a:solidFill>
              </a:defRPr>
            </a:lvl1pPr>
          </a:lstStyle>
          <a:p>
            <a:fld id="{84E4409A-E250-43DE-AEC0-E766029F0D9A}" type="slidenum">
              <a:rPr lang="fa-IR" smtClean="0"/>
              <a:t>‹#›</a:t>
            </a:fld>
            <a:endParaRPr lang="fa-IR"/>
          </a:p>
        </p:txBody>
      </p:sp>
    </p:spTree>
    <p:extLst>
      <p:ext uri="{BB962C8B-B14F-4D97-AF65-F5344CB8AC3E}">
        <p14:creationId xmlns:p14="http://schemas.microsoft.com/office/powerpoint/2010/main" val="3117536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983A5698-1B2E-4A4E-955C-A1C5C5B66AC0}" type="datetime8">
              <a:rPr lang="fa-IR" smtClean="0"/>
              <a:t>20 ژوئيه 26</a:t>
            </a:fld>
            <a:endParaRPr lang="fa-IR"/>
          </a:p>
        </p:txBody>
      </p:sp>
      <p:sp>
        <p:nvSpPr>
          <p:cNvPr id="6" name="Footer Placeholder 5"/>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7" name="Slide Number Placeholder 6"/>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6198345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BED96F4B-2CB0-4ED3-916D-6AF7EE54172A}" type="datetime8">
              <a:rPr lang="fa-IR" smtClean="0"/>
              <a:t>20 ژوئيه 26</a:t>
            </a:fld>
            <a:endParaRPr lang="fa-IR"/>
          </a:p>
        </p:txBody>
      </p:sp>
      <p:sp>
        <p:nvSpPr>
          <p:cNvPr id="5" name="Footer Placeholder 4"/>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6" name="Slide Number Placeholder 5"/>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2957977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CC25A6CD-838C-4D55-B75C-7B20A7ED3AD6}" type="datetime8">
              <a:rPr lang="fa-IR" smtClean="0"/>
              <a:t>20 ژوئيه 26</a:t>
            </a:fld>
            <a:endParaRPr lang="fa-IR"/>
          </a:p>
        </p:txBody>
      </p:sp>
      <p:sp>
        <p:nvSpPr>
          <p:cNvPr id="5" name="Footer Placeholder 4"/>
          <p:cNvSpPr>
            <a:spLocks noGrp="1"/>
          </p:cNvSpPr>
          <p:nvPr>
            <p:ph type="ftr" sz="quarter" idx="11"/>
          </p:nvPr>
        </p:nvSpPr>
        <p:spPr>
          <a:xfrm>
            <a:off x="3686185" y="6459785"/>
            <a:ext cx="4822804" cy="365125"/>
          </a:xfrm>
          <a:prstGeom prst="rect">
            <a:avLst/>
          </a:prstGeom>
        </p:spPr>
        <p:txBody>
          <a:bodyPr/>
          <a:lstStyle/>
          <a:p>
            <a:pPr algn="l"/>
            <a:r>
              <a:rPr lang="en-US" cap="all">
                <a:solidFill>
                  <a:srgbClr val="6B7A90"/>
                </a:solidFill>
                <a:latin typeface="-apple-system"/>
              </a:rPr>
              <a:t>Smart Car System Design — University of Tabriz</a:t>
            </a:r>
            <a:endParaRPr lang="fa-IR" dirty="0"/>
          </a:p>
        </p:txBody>
      </p:sp>
      <p:sp>
        <p:nvSpPr>
          <p:cNvPr id="6" name="Slide Number Placeholder 5"/>
          <p:cNvSpPr>
            <a:spLocks noGrp="1"/>
          </p:cNvSpPr>
          <p:nvPr>
            <p:ph type="sldNum" sz="quarter" idx="12"/>
          </p:nvPr>
        </p:nvSpPr>
        <p:spPr>
          <a:xfrm>
            <a:off x="9900458" y="6459785"/>
            <a:ext cx="1312025" cy="365125"/>
          </a:xfrm>
          <a:prstGeom prst="rect">
            <a:avLst/>
          </a:prstGeom>
        </p:spPr>
        <p:txBody>
          <a:bodyPr/>
          <a:lstStyle/>
          <a:p>
            <a:fld id="{84E4409A-E250-43DE-AEC0-E766029F0D9A}" type="slidenum">
              <a:rPr lang="fa-IR" smtClean="0"/>
              <a:t>‹#›</a:t>
            </a:fld>
            <a:endParaRPr lang="fa-IR"/>
          </a:p>
        </p:txBody>
      </p:sp>
    </p:spTree>
    <p:extLst>
      <p:ext uri="{BB962C8B-B14F-4D97-AF65-F5344CB8AC3E}">
        <p14:creationId xmlns:p14="http://schemas.microsoft.com/office/powerpoint/2010/main" val="1116623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402106-A73D-444A-9F74-BD0F092D5B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a-IR"/>
          </a:p>
        </p:txBody>
      </p:sp>
      <p:sp>
        <p:nvSpPr>
          <p:cNvPr id="3" name="Text Placeholder 2">
            <a:extLst>
              <a:ext uri="{FF2B5EF4-FFF2-40B4-BE49-F238E27FC236}">
                <a16:creationId xmlns:a16="http://schemas.microsoft.com/office/drawing/2014/main" id="{BE52E955-EFFF-469D-B307-8B60E19C92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a-IR" dirty="0"/>
          </a:p>
        </p:txBody>
      </p:sp>
      <p:sp>
        <p:nvSpPr>
          <p:cNvPr id="4" name="Date Placeholder 3">
            <a:extLst>
              <a:ext uri="{FF2B5EF4-FFF2-40B4-BE49-F238E27FC236}">
                <a16:creationId xmlns:a16="http://schemas.microsoft.com/office/drawing/2014/main" id="{6529B435-E3E3-43F5-B923-5CDDED44DD77}"/>
              </a:ext>
            </a:extLst>
          </p:cNvPr>
          <p:cNvSpPr>
            <a:spLocks noGrp="1"/>
          </p:cNvSpPr>
          <p:nvPr>
            <p:ph type="dt" sz="half" idx="2"/>
          </p:nvPr>
        </p:nvSpPr>
        <p:spPr>
          <a:xfrm>
            <a:off x="5410200" y="635672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C7D332-AB94-43FB-831A-40F69AF965FE}" type="datetime8">
              <a:rPr lang="fa-IR" smtClean="0"/>
              <a:t>20 ژوئيه 26</a:t>
            </a:fld>
            <a:endParaRPr lang="fa-IR"/>
          </a:p>
        </p:txBody>
      </p:sp>
      <p:sp>
        <p:nvSpPr>
          <p:cNvPr id="5" name="Footer Placeholder 4">
            <a:extLst>
              <a:ext uri="{FF2B5EF4-FFF2-40B4-BE49-F238E27FC236}">
                <a16:creationId xmlns:a16="http://schemas.microsoft.com/office/drawing/2014/main" id="{4839E13F-E48D-430D-8D76-D0A0BFE5DB96}"/>
              </a:ext>
            </a:extLst>
          </p:cNvPr>
          <p:cNvSpPr>
            <a:spLocks noGrp="1"/>
          </p:cNvSpPr>
          <p:nvPr>
            <p:ph type="ftr" sz="quarter" idx="3"/>
          </p:nvPr>
        </p:nvSpPr>
        <p:spPr>
          <a:xfrm>
            <a:off x="838200" y="6356349"/>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cap="all" dirty="0">
                <a:solidFill>
                  <a:srgbClr val="6B7A90"/>
                </a:solidFill>
                <a:latin typeface="-apple-system"/>
              </a:rPr>
              <a:t>Smart Car System Design — University of Tabriz</a:t>
            </a:r>
            <a:endParaRPr lang="fa-IR" dirty="0"/>
          </a:p>
        </p:txBody>
      </p:sp>
      <p:sp>
        <p:nvSpPr>
          <p:cNvPr id="6" name="Slide Number Placeholder 5">
            <a:extLst>
              <a:ext uri="{FF2B5EF4-FFF2-40B4-BE49-F238E27FC236}">
                <a16:creationId xmlns:a16="http://schemas.microsoft.com/office/drawing/2014/main" id="{B9E7FFDB-42AD-441B-9150-FEF340590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E4409A-E250-43DE-AEC0-E766029F0D9A}" type="slidenum">
              <a:rPr lang="fa-IR" smtClean="0"/>
              <a:pPr/>
              <a:t>‹#›</a:t>
            </a:fld>
            <a:endParaRPr lang="fa-IR" dirty="0"/>
          </a:p>
        </p:txBody>
      </p:sp>
    </p:spTree>
    <p:extLst>
      <p:ext uri="{BB962C8B-B14F-4D97-AF65-F5344CB8AC3E}">
        <p14:creationId xmlns:p14="http://schemas.microsoft.com/office/powerpoint/2010/main" val="1327215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585D163-F4B7-4AE8-BCE0-BABA962904C4}"/>
              </a:ext>
            </a:extLst>
          </p:cNvPr>
          <p:cNvSpPr>
            <a:spLocks noGrp="1"/>
          </p:cNvSpPr>
          <p:nvPr>
            <p:ph type="ftr" sz="quarter" idx="3"/>
          </p:nvPr>
        </p:nvSpPr>
        <p:spPr>
          <a:xfrm>
            <a:off x="838200" y="6446835"/>
            <a:ext cx="4114800" cy="365125"/>
          </a:xfrm>
          <a:prstGeom prst="rect">
            <a:avLst/>
          </a:prstGeom>
        </p:spPr>
        <p:txBody>
          <a:bodyPr vert="horz" lIns="91440" tIns="45720" rIns="91440" bIns="45720" rtlCol="0" anchor="ctr"/>
          <a:lstStyle>
            <a:lvl1pPr algn="ctr">
              <a:defRPr sz="1200">
                <a:solidFill>
                  <a:schemeClr val="bg1"/>
                </a:solidFill>
              </a:defRPr>
            </a:lvl1pPr>
          </a:lstStyle>
          <a:p>
            <a:pPr algn="l"/>
            <a:r>
              <a:rPr lang="en-US" cap="all" dirty="0">
                <a:latin typeface="-apple-system"/>
              </a:rPr>
              <a:t>Smart Car System Design — University of Tabriz</a:t>
            </a:r>
            <a:endParaRPr lang="fa-IR" dirty="0"/>
          </a:p>
        </p:txBody>
      </p:sp>
      <p:sp>
        <p:nvSpPr>
          <p:cNvPr id="12" name="Date Placeholder 3">
            <a:extLst>
              <a:ext uri="{FF2B5EF4-FFF2-40B4-BE49-F238E27FC236}">
                <a16:creationId xmlns:a16="http://schemas.microsoft.com/office/drawing/2014/main" id="{90F8D41F-8442-467E-BAA6-348B8B2D63F0}"/>
              </a:ext>
            </a:extLst>
          </p:cNvPr>
          <p:cNvSpPr>
            <a:spLocks noGrp="1"/>
          </p:cNvSpPr>
          <p:nvPr>
            <p:ph type="dt" sz="half" idx="2"/>
          </p:nvPr>
        </p:nvSpPr>
        <p:spPr>
          <a:xfrm>
            <a:off x="5410200" y="6446836"/>
            <a:ext cx="2743200" cy="365125"/>
          </a:xfrm>
          <a:prstGeom prst="rect">
            <a:avLst/>
          </a:prstGeom>
        </p:spPr>
        <p:txBody>
          <a:bodyPr vert="horz" lIns="91440" tIns="45720" rIns="91440" bIns="45720" rtlCol="0" anchor="ctr"/>
          <a:lstStyle>
            <a:lvl1pPr algn="r">
              <a:defRPr sz="1200">
                <a:solidFill>
                  <a:schemeClr val="bg1"/>
                </a:solidFill>
              </a:defRPr>
            </a:lvl1pPr>
          </a:lstStyle>
          <a:p>
            <a:fld id="{6CC7D332-AB94-43FB-831A-40F69AF965FE}" type="datetime8">
              <a:rPr lang="fa-IR" smtClean="0"/>
              <a:pPr/>
              <a:t>20 ژوئيه 26</a:t>
            </a:fld>
            <a:endParaRPr lang="fa-IR" dirty="0"/>
          </a:p>
        </p:txBody>
      </p:sp>
      <p:sp>
        <p:nvSpPr>
          <p:cNvPr id="13" name="Slide Number Placeholder 5">
            <a:extLst>
              <a:ext uri="{FF2B5EF4-FFF2-40B4-BE49-F238E27FC236}">
                <a16:creationId xmlns:a16="http://schemas.microsoft.com/office/drawing/2014/main" id="{C3E3B8FA-31F8-498C-AB34-DABDC7A74EED}"/>
              </a:ext>
            </a:extLst>
          </p:cNvPr>
          <p:cNvSpPr>
            <a:spLocks noGrp="1"/>
          </p:cNvSpPr>
          <p:nvPr>
            <p:ph type="sldNum" sz="quarter" idx="4"/>
          </p:nvPr>
        </p:nvSpPr>
        <p:spPr>
          <a:xfrm>
            <a:off x="8610600" y="6446837"/>
            <a:ext cx="2743200" cy="365125"/>
          </a:xfrm>
          <a:prstGeom prst="rect">
            <a:avLst/>
          </a:prstGeom>
        </p:spPr>
        <p:txBody>
          <a:bodyPr vert="horz" lIns="91440" tIns="45720" rIns="91440" bIns="45720" rtlCol="0" anchor="ctr"/>
          <a:lstStyle>
            <a:lvl1pPr algn="r">
              <a:defRPr sz="1200">
                <a:solidFill>
                  <a:schemeClr val="bg1"/>
                </a:solidFill>
              </a:defRPr>
            </a:lvl1pPr>
          </a:lstStyle>
          <a:p>
            <a:fld id="{84E4409A-E250-43DE-AEC0-E766029F0D9A}" type="slidenum">
              <a:rPr lang="fa-IR" smtClean="0"/>
              <a:pPr/>
              <a:t>‹#›</a:t>
            </a:fld>
            <a:endParaRPr lang="fa-IR" dirty="0"/>
          </a:p>
        </p:txBody>
      </p:sp>
    </p:spTree>
    <p:extLst>
      <p:ext uri="{BB962C8B-B14F-4D97-AF65-F5344CB8AC3E}">
        <p14:creationId xmlns:p14="http://schemas.microsoft.com/office/powerpoint/2010/main" val="5291554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hyperlink" Target="https://stm32cube.ai/" TargetMode="Externa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2000">
              <a:srgbClr val="0B3D91"/>
            </a:gs>
            <a:gs pos="0">
              <a:srgbClr val="782634"/>
            </a:gs>
            <a:gs pos="100000">
              <a:srgbClr val="0B3D91"/>
            </a:gs>
          </a:gsLst>
          <a:lin ang="2700000" scaled="1"/>
          <a:tileRect/>
        </a:gradFill>
        <a:effectLst/>
      </p:bgPr>
    </p:bg>
    <p:spTree>
      <p:nvGrpSpPr>
        <p:cNvPr id="1" name="">
          <a:extLst>
            <a:ext uri="{FF2B5EF4-FFF2-40B4-BE49-F238E27FC236}">
              <a16:creationId xmlns:a16="http://schemas.microsoft.com/office/drawing/2014/main" id="{B91A0DCA-71A3-BEE9-3736-2E22A9E7097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831A20-934E-FE5B-3CC8-0C95FDD5F60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prstClr val="white"/>
                </a:solidFill>
                <a:effectLst/>
                <a:uLnTx/>
                <a:uFillTx/>
                <a:latin typeface="-apple-system"/>
                <a:ea typeface="+mn-ea"/>
                <a:cs typeface="+mn-cs"/>
              </a:rPr>
              <a:t>Smart Car System Design — University of Tabriz</a:t>
            </a:r>
            <a:endParaRPr kumimoji="0" lang="fa-IR" sz="12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6D5A2040-E638-2590-43DF-FA920AA18A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4409A-E250-43DE-AEC0-E766029F0D9A}" type="slidenum">
              <a:rPr kumimoji="0" lang="fa-IR" sz="1200" b="0" i="0" u="none" strike="noStrike" kern="1200" cap="none" spc="0" normalizeH="0" baseline="0" noProof="0" smtClean="0">
                <a:ln>
                  <a:noFill/>
                </a:ln>
                <a:solidFill>
                  <a:prstClr val="white"/>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a-IR" sz="12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6" name="Title 1">
            <a:extLst>
              <a:ext uri="{FF2B5EF4-FFF2-40B4-BE49-F238E27FC236}">
                <a16:creationId xmlns:a16="http://schemas.microsoft.com/office/drawing/2014/main" id="{6F9B0312-4A24-0B23-DFAB-AED820AB84A2}"/>
              </a:ext>
            </a:extLst>
          </p:cNvPr>
          <p:cNvSpPr txBox="1">
            <a:spLocks/>
          </p:cNvSpPr>
          <p:nvPr/>
        </p:nvSpPr>
        <p:spPr>
          <a:xfrm>
            <a:off x="904875" y="1122363"/>
            <a:ext cx="984885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apple-system"/>
                <a:ea typeface="+mj-ea"/>
                <a:cs typeface="+mj-cs"/>
              </a:rPr>
              <a:t>Node 5: Ai </a:t>
            </a:r>
            <a:r>
              <a:rPr kumimoji="0" lang="en-US" sz="6000" b="1" i="0" u="none" strike="noStrike" kern="1200" cap="none" spc="0" normalizeH="0" baseline="0" noProof="0" dirty="0" err="1">
                <a:ln>
                  <a:noFill/>
                </a:ln>
                <a:solidFill>
                  <a:srgbClr val="FFFFFF"/>
                </a:solidFill>
                <a:effectLst/>
                <a:uLnTx/>
                <a:uFillTx/>
                <a:latin typeface="-apple-system"/>
                <a:ea typeface="+mj-ea"/>
                <a:cs typeface="+mj-cs"/>
              </a:rPr>
              <a:t>TinyOD</a:t>
            </a:r>
            <a:r>
              <a:rPr kumimoji="0" lang="en-US" sz="6000" b="1" i="0" u="none" strike="noStrike" kern="1200" cap="none" spc="0" normalizeH="0" baseline="0" noProof="0" dirty="0">
                <a:ln>
                  <a:noFill/>
                </a:ln>
                <a:solidFill>
                  <a:srgbClr val="FFFFFF"/>
                </a:solidFill>
                <a:effectLst/>
                <a:uLnTx/>
                <a:uFillTx/>
                <a:latin typeface="-apple-system"/>
                <a:ea typeface="+mj-ea"/>
                <a:cs typeface="+mj-cs"/>
              </a:rPr>
              <a:t>-Brake</a:t>
            </a:r>
            <a:br>
              <a:rPr kumimoji="0" lang="en-US" sz="6000" b="1" i="0" u="none" strike="noStrike" kern="1200" cap="none" spc="0" normalizeH="0" baseline="0" noProof="0" dirty="0">
                <a:ln>
                  <a:noFill/>
                </a:ln>
                <a:solidFill>
                  <a:prstClr val="white"/>
                </a:solidFill>
                <a:effectLst/>
                <a:uLnTx/>
                <a:uFillTx/>
                <a:latin typeface="-apple-system"/>
                <a:ea typeface="+mj-ea"/>
                <a:cs typeface="+mj-cs"/>
              </a:rPr>
            </a:br>
            <a:endParaRPr kumimoji="0" lang="fa-IR" sz="6000" b="0" i="0" u="none" strike="noStrike" kern="1200" cap="none" spc="0" normalizeH="0" baseline="0" noProof="0" dirty="0">
              <a:ln>
                <a:noFill/>
              </a:ln>
              <a:solidFill>
                <a:prstClr val="white"/>
              </a:solidFill>
              <a:effectLst/>
              <a:uLnTx/>
              <a:uFillTx/>
              <a:latin typeface="Calibri Light" panose="020F0302020204030204"/>
              <a:ea typeface="+mj-ea"/>
              <a:cs typeface="Times New Roman" panose="02020603050405020304" pitchFamily="18" charset="0"/>
            </a:endParaRPr>
          </a:p>
        </p:txBody>
      </p:sp>
      <p:sp>
        <p:nvSpPr>
          <p:cNvPr id="7" name="TextBox 6">
            <a:extLst>
              <a:ext uri="{FF2B5EF4-FFF2-40B4-BE49-F238E27FC236}">
                <a16:creationId xmlns:a16="http://schemas.microsoft.com/office/drawing/2014/main" id="{C2FE844D-B188-0A6E-D465-018B7CBD060B}"/>
              </a:ext>
            </a:extLst>
          </p:cNvPr>
          <p:cNvSpPr txBox="1"/>
          <p:nvPr/>
        </p:nvSpPr>
        <p:spPr>
          <a:xfrm>
            <a:off x="904875" y="3509963"/>
            <a:ext cx="10477500" cy="707886"/>
          </a:xfrm>
          <a:prstGeom prst="rect">
            <a:avLst/>
          </a:prstGeom>
          <a:noFill/>
        </p:spPr>
        <p:txBody>
          <a:bodyPr wrap="square">
            <a:spAutoFit/>
          </a:bodyPr>
          <a:lstStyle/>
          <a:p>
            <a:pPr lvl="0"/>
            <a:r>
              <a:rPr lang="en-US" sz="2000" dirty="0" err="1">
                <a:solidFill>
                  <a:schemeClr val="bg1"/>
                </a:solidFill>
              </a:rPr>
              <a:t>TinyML</a:t>
            </a:r>
            <a:r>
              <a:rPr lang="en-US" sz="2000" dirty="0">
                <a:solidFill>
                  <a:schemeClr val="bg1"/>
                </a:solidFill>
              </a:rPr>
              <a:t>-based obstacle detection and emergency braking system simulated on STM32F401VE using STM32Cube.AI, CMSIS-NN, and Proteus. ONNX model deployed on Arm Cortex-M4.</a:t>
            </a:r>
            <a:endParaRPr kumimoji="0" lang="fa-IR" sz="2000" b="0" i="0" u="none" strike="noStrike" kern="1200" cap="none" spc="0" normalizeH="0" baseline="0" noProof="0" dirty="0">
              <a:ln>
                <a:noFill/>
              </a:ln>
              <a:solidFill>
                <a:schemeClr val="bg1"/>
              </a:solidFill>
              <a:effectLst/>
              <a:uLnTx/>
              <a:uFillTx/>
              <a:ea typeface="+mn-ea"/>
              <a:cs typeface="Arial" panose="020B0604020202020204" pitchFamily="34" charset="0"/>
            </a:endParaRPr>
          </a:p>
        </p:txBody>
      </p:sp>
      <p:sp>
        <p:nvSpPr>
          <p:cNvPr id="8" name="Subtitle 2">
            <a:extLst>
              <a:ext uri="{FF2B5EF4-FFF2-40B4-BE49-F238E27FC236}">
                <a16:creationId xmlns:a16="http://schemas.microsoft.com/office/drawing/2014/main" id="{96048489-D977-14D3-9CE1-15588C9D4FC2}"/>
              </a:ext>
            </a:extLst>
          </p:cNvPr>
          <p:cNvSpPr txBox="1">
            <a:spLocks/>
          </p:cNvSpPr>
          <p:nvPr/>
        </p:nvSpPr>
        <p:spPr>
          <a:xfrm>
            <a:off x="904875" y="2773363"/>
            <a:ext cx="9848850" cy="41751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all" spc="0" normalizeH="0" baseline="0" noProof="0" dirty="0">
                <a:ln>
                  <a:noFill/>
                </a:ln>
                <a:solidFill>
                  <a:srgbClr val="FFB703"/>
                </a:solidFill>
                <a:effectLst/>
                <a:uLnTx/>
                <a:uFillTx/>
                <a:latin typeface="-apple-system"/>
                <a:ea typeface="+mn-ea"/>
                <a:cs typeface="+mn-cs"/>
              </a:rPr>
              <a:t>Presenter: Sobhan Nasiri</a:t>
            </a:r>
            <a:endParaRPr kumimoji="0" lang="fa-IR" sz="2000" b="1" i="0" u="none" strike="noStrike" kern="1200" cap="all" spc="0" normalizeH="0" baseline="0" noProof="0" dirty="0">
              <a:ln>
                <a:noFill/>
              </a:ln>
              <a:solidFill>
                <a:srgbClr val="FFB703"/>
              </a:solidFill>
              <a:effectLst/>
              <a:uLnTx/>
              <a:uFillTx/>
              <a:latin typeface="-apple-system"/>
              <a:ea typeface="+mn-ea"/>
              <a:cs typeface="Arial" panose="020B0604020202020204" pitchFamily="34" charset="0"/>
            </a:endParaRPr>
          </a:p>
        </p:txBody>
      </p:sp>
    </p:spTree>
    <p:extLst>
      <p:ext uri="{BB962C8B-B14F-4D97-AF65-F5344CB8AC3E}">
        <p14:creationId xmlns:p14="http://schemas.microsoft.com/office/powerpoint/2010/main" val="295274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743921D-F3F3-4091-814F-60466483FA27}"/>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649E4784-0AC3-4FDC-B375-EEE77424F6B3}"/>
              </a:ext>
            </a:extLst>
          </p:cNvPr>
          <p:cNvSpPr>
            <a:spLocks noGrp="1"/>
          </p:cNvSpPr>
          <p:nvPr>
            <p:ph type="sldNum" sz="quarter" idx="4"/>
          </p:nvPr>
        </p:nvSpPr>
        <p:spPr/>
        <p:txBody>
          <a:bodyPr/>
          <a:lstStyle/>
          <a:p>
            <a:fld id="{84E4409A-E250-43DE-AEC0-E766029F0D9A}" type="slidenum">
              <a:rPr lang="fa-IR" smtClean="0"/>
              <a:pPr/>
              <a:t>2</a:t>
            </a:fld>
            <a:endParaRPr lang="fa-IR" dirty="0"/>
          </a:p>
        </p:txBody>
      </p:sp>
      <p:sp>
        <p:nvSpPr>
          <p:cNvPr id="6" name="Title 1">
            <a:extLst>
              <a:ext uri="{FF2B5EF4-FFF2-40B4-BE49-F238E27FC236}">
                <a16:creationId xmlns:a16="http://schemas.microsoft.com/office/drawing/2014/main" id="{29B4771B-203F-43CA-80B4-ACDC9A97157E}"/>
              </a:ext>
            </a:extLst>
          </p:cNvPr>
          <p:cNvSpPr>
            <a:spLocks noGrp="1"/>
          </p:cNvSpPr>
          <p:nvPr>
            <p:ph type="title"/>
          </p:nvPr>
        </p:nvSpPr>
        <p:spPr>
          <a:xfrm>
            <a:off x="838200" y="365125"/>
            <a:ext cx="10515600" cy="1325563"/>
          </a:xfrm>
        </p:spPr>
        <p:txBody>
          <a:bodyPr>
            <a:normAutofit/>
          </a:bodyPr>
          <a:lstStyle/>
          <a:p>
            <a:r>
              <a:rPr lang="en-US" sz="3600" b="1" dirty="0">
                <a:solidFill>
                  <a:srgbClr val="0B3D91"/>
                </a:solidFill>
                <a:latin typeface="-apple-system"/>
              </a:rPr>
              <a:t> </a:t>
            </a:r>
            <a:r>
              <a:rPr lang="en-US" sz="4000" b="1" dirty="0">
                <a:solidFill>
                  <a:srgbClr val="0B3D91"/>
                </a:solidFill>
                <a:latin typeface="-apple-system"/>
              </a:rPr>
              <a:t>Node 5 — Mission &amp; Responsibilities</a:t>
            </a:r>
            <a:br>
              <a:rPr lang="en-US" b="1" i="0" dirty="0">
                <a:solidFill>
                  <a:srgbClr val="0B1F3A"/>
                </a:solidFill>
                <a:effectLst/>
                <a:latin typeface="-apple-system"/>
              </a:rPr>
            </a:br>
            <a:endParaRPr lang="fa-IR" dirty="0"/>
          </a:p>
        </p:txBody>
      </p:sp>
      <p:cxnSp>
        <p:nvCxnSpPr>
          <p:cNvPr id="7" name="Straight Connector 6">
            <a:extLst>
              <a:ext uri="{FF2B5EF4-FFF2-40B4-BE49-F238E27FC236}">
                <a16:creationId xmlns:a16="http://schemas.microsoft.com/office/drawing/2014/main" id="{F6B41F53-B58C-446E-8B54-97B308890864}"/>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368B6D8-E843-487D-B7E2-FF1E03F02353}"/>
              </a:ext>
            </a:extLst>
          </p:cNvPr>
          <p:cNvSpPr txBox="1"/>
          <p:nvPr/>
        </p:nvSpPr>
        <p:spPr>
          <a:xfrm>
            <a:off x="838198" y="1191090"/>
            <a:ext cx="6096000" cy="369332"/>
          </a:xfrm>
          <a:prstGeom prst="rect">
            <a:avLst/>
          </a:prstGeom>
          <a:noFill/>
        </p:spPr>
        <p:txBody>
          <a:bodyPr wrap="square">
            <a:spAutoFit/>
          </a:bodyPr>
          <a:lstStyle/>
          <a:p>
            <a:r>
              <a:rPr lang="en-US" b="0" i="0" cap="all" dirty="0">
                <a:solidFill>
                  <a:srgbClr val="6B7A90"/>
                </a:solidFill>
                <a:effectLst/>
                <a:latin typeface="-apple-system"/>
              </a:rPr>
              <a:t>What this node must do inside the smart car</a:t>
            </a:r>
            <a:endParaRPr lang="fa-IR" cap="all" dirty="0">
              <a:solidFill>
                <a:srgbClr val="6B7A90"/>
              </a:solidFill>
              <a:latin typeface="-apple-system"/>
            </a:endParaRPr>
          </a:p>
        </p:txBody>
      </p:sp>
      <p:sp>
        <p:nvSpPr>
          <p:cNvPr id="9" name="Rectangle: Rounded Corners 8">
            <a:extLst>
              <a:ext uri="{FF2B5EF4-FFF2-40B4-BE49-F238E27FC236}">
                <a16:creationId xmlns:a16="http://schemas.microsoft.com/office/drawing/2014/main" id="{5EBBBA74-6C6C-4784-BFFA-5DD0B979D7AC}"/>
              </a:ext>
            </a:extLst>
          </p:cNvPr>
          <p:cNvSpPr/>
          <p:nvPr/>
        </p:nvSpPr>
        <p:spPr>
          <a:xfrm>
            <a:off x="311285" y="1942613"/>
            <a:ext cx="2433905" cy="3782807"/>
          </a:xfrm>
          <a:prstGeom prst="roundRect">
            <a:avLst/>
          </a:prstGeom>
          <a:solidFill>
            <a:srgbClr val="FFC9C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Environmental Perception</a:t>
            </a:r>
            <a:endParaRPr lang="fa-IR" b="1" dirty="0">
              <a:solidFill>
                <a:schemeClr val="tx1"/>
              </a:solidFill>
            </a:endParaRPr>
          </a:p>
          <a:p>
            <a:pPr marL="285750" indent="-285750">
              <a:buFont typeface="Arial" panose="020B0604020202020204" pitchFamily="34" charset="0"/>
              <a:buChar char="•"/>
            </a:pPr>
            <a:r>
              <a:rPr lang="en-US" dirty="0">
                <a:solidFill>
                  <a:schemeClr val="bg1">
                    <a:lumMod val="50000"/>
                  </a:schemeClr>
                </a:solidFill>
              </a:rPr>
              <a:t>Captures a simulated 96×96 grayscale image, applies fixed‑point preprocessing (no FPU), and runs an INT8 CNN inference to detect obstacles in real time.</a:t>
            </a:r>
            <a:endParaRPr lang="en-US" sz="1600" dirty="0">
              <a:solidFill>
                <a:schemeClr val="bg1">
                  <a:lumMod val="50000"/>
                </a:schemeClr>
              </a:solidFill>
              <a:latin typeface="-apple-system"/>
            </a:endParaRPr>
          </a:p>
        </p:txBody>
      </p:sp>
      <p:sp>
        <p:nvSpPr>
          <p:cNvPr id="10" name="Rectangle: Rounded Corners 9">
            <a:extLst>
              <a:ext uri="{FF2B5EF4-FFF2-40B4-BE49-F238E27FC236}">
                <a16:creationId xmlns:a16="http://schemas.microsoft.com/office/drawing/2014/main" id="{DC67F0EA-A4F3-496C-8CFC-0B798571C639}"/>
              </a:ext>
            </a:extLst>
          </p:cNvPr>
          <p:cNvSpPr/>
          <p:nvPr/>
        </p:nvSpPr>
        <p:spPr>
          <a:xfrm>
            <a:off x="3132306" y="1942613"/>
            <a:ext cx="2539255" cy="3782807"/>
          </a:xfrm>
          <a:prstGeom prst="roundRect">
            <a:avLst/>
          </a:prstGeom>
          <a:solidFill>
            <a:srgbClr val="F5FEC2"/>
          </a:solidFill>
          <a:ln>
            <a:solidFill>
              <a:srgbClr val="FFB70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Risk Assessment &amp; TTC Calculation</a:t>
            </a:r>
            <a:endParaRPr lang="fa-IR" b="1" dirty="0">
              <a:solidFill>
                <a:schemeClr val="tx1"/>
              </a:solidFill>
            </a:endParaRPr>
          </a:p>
          <a:p>
            <a:pPr algn="ctr"/>
            <a:endParaRPr lang="en-US" b="1" dirty="0">
              <a:solidFill>
                <a:schemeClr val="tx1"/>
              </a:solidFill>
              <a:latin typeface="-apple-system"/>
            </a:endParaRPr>
          </a:p>
          <a:p>
            <a:pPr marL="285750" indent="-285750">
              <a:buFont typeface="Arial" panose="020B0604020202020204" pitchFamily="34" charset="0"/>
              <a:buChar char="•"/>
            </a:pPr>
            <a:r>
              <a:rPr lang="en-US" dirty="0">
                <a:solidFill>
                  <a:schemeClr val="bg1">
                    <a:lumMod val="50000"/>
                  </a:schemeClr>
                </a:solidFill>
              </a:rPr>
              <a:t>Uses simulated distance and speed to compute Time‑to‑Collision (TTC) with integer arithmetic; the TTC value determines the urgency of the response.</a:t>
            </a:r>
            <a:endParaRPr lang="en-US" b="1" dirty="0">
              <a:solidFill>
                <a:schemeClr val="bg1">
                  <a:lumMod val="50000"/>
                </a:schemeClr>
              </a:solidFill>
              <a:latin typeface="-apple-system"/>
            </a:endParaRPr>
          </a:p>
        </p:txBody>
      </p:sp>
      <p:sp>
        <p:nvSpPr>
          <p:cNvPr id="11" name="Rectangle: Rounded Corners 10">
            <a:extLst>
              <a:ext uri="{FF2B5EF4-FFF2-40B4-BE49-F238E27FC236}">
                <a16:creationId xmlns:a16="http://schemas.microsoft.com/office/drawing/2014/main" id="{DF1EDA22-5EDC-4038-B59C-E2D2698D03FF}"/>
              </a:ext>
            </a:extLst>
          </p:cNvPr>
          <p:cNvSpPr/>
          <p:nvPr/>
        </p:nvSpPr>
        <p:spPr>
          <a:xfrm>
            <a:off x="6071345" y="1942613"/>
            <a:ext cx="2539255" cy="3782807"/>
          </a:xfrm>
          <a:prstGeom prst="roundRect">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Finite‑State Machine(FSM) Decision Logic</a:t>
            </a:r>
            <a:endParaRPr lang="fa-IR" b="1" dirty="0">
              <a:solidFill>
                <a:schemeClr val="tx1"/>
              </a:solidFill>
            </a:endParaRPr>
          </a:p>
          <a:p>
            <a:pPr algn="ctr"/>
            <a:br>
              <a:rPr lang="en-US" dirty="0"/>
            </a:br>
            <a:r>
              <a:rPr lang="en-US" dirty="0">
                <a:solidFill>
                  <a:schemeClr val="bg1">
                    <a:lumMod val="50000"/>
                  </a:schemeClr>
                </a:solidFill>
              </a:rPr>
              <a:t>Implements four safety states (Normal, Warning, Brake, Safe Stop) and transitions based on obstacle probability and TTC thresholds to ensure controlled braking.</a:t>
            </a:r>
            <a:endParaRPr lang="fa-IR" sz="1600" dirty="0">
              <a:solidFill>
                <a:schemeClr val="bg1">
                  <a:lumMod val="50000"/>
                </a:schemeClr>
              </a:solidFill>
              <a:latin typeface="-apple-system"/>
            </a:endParaRPr>
          </a:p>
        </p:txBody>
      </p:sp>
      <p:sp>
        <p:nvSpPr>
          <p:cNvPr id="12" name="Rectangle: Rounded Corners 11">
            <a:extLst>
              <a:ext uri="{FF2B5EF4-FFF2-40B4-BE49-F238E27FC236}">
                <a16:creationId xmlns:a16="http://schemas.microsoft.com/office/drawing/2014/main" id="{8416FA27-5C74-4D2B-AB5F-AB4C4C97D26F}"/>
              </a:ext>
            </a:extLst>
          </p:cNvPr>
          <p:cNvSpPr/>
          <p:nvPr/>
        </p:nvSpPr>
        <p:spPr>
          <a:xfrm>
            <a:off x="8985048" y="1942613"/>
            <a:ext cx="2539255" cy="3782807"/>
          </a:xfrm>
          <a:prstGeom prst="roundRect">
            <a:avLst/>
          </a:prstGeom>
          <a:solidFill>
            <a:schemeClr val="tx2">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rPr>
              <a:t>Graphical LCD Display</a:t>
            </a:r>
            <a:endParaRPr lang="fa-IR" sz="1600" b="1" dirty="0">
              <a:solidFill>
                <a:srgbClr val="6B7A90"/>
              </a:solidFill>
              <a:latin typeface="-apple-system"/>
            </a:endParaRPr>
          </a:p>
          <a:p>
            <a:pPr algn="ctr"/>
            <a:endParaRPr lang="en-US" sz="1600" dirty="0">
              <a:solidFill>
                <a:srgbClr val="6B7A90"/>
              </a:solidFill>
              <a:latin typeface="-apple-system"/>
            </a:endParaRPr>
          </a:p>
          <a:p>
            <a:pPr marL="285750" indent="-285750">
              <a:buFont typeface="Arial" panose="020B0604020202020204" pitchFamily="34" charset="0"/>
              <a:buChar char="•"/>
            </a:pPr>
            <a:r>
              <a:rPr lang="en-US" dirty="0">
                <a:solidFill>
                  <a:schemeClr val="bg1">
                    <a:lumMod val="50000"/>
                  </a:schemeClr>
                </a:solidFill>
              </a:rPr>
              <a:t>Shows live system status, obstacle probability, TTC, and current state on a 240×320 ILI9341 LCD via SPI, updated at ~4 FPS for clear operator feedback.</a:t>
            </a:r>
            <a:endParaRPr lang="en-US" sz="1600" dirty="0">
              <a:solidFill>
                <a:schemeClr val="bg1">
                  <a:lumMod val="50000"/>
                </a:schemeClr>
              </a:solidFill>
              <a:latin typeface="-apple-system"/>
            </a:endParaRPr>
          </a:p>
        </p:txBody>
      </p:sp>
    </p:spTree>
    <p:extLst>
      <p:ext uri="{BB962C8B-B14F-4D97-AF65-F5344CB8AC3E}">
        <p14:creationId xmlns:p14="http://schemas.microsoft.com/office/powerpoint/2010/main" val="114095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AEE3F29-07D5-4BCE-BA83-5AB578CD5EAD}"/>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926169A1-EB75-4091-B52B-07BB22A7DEC3}"/>
              </a:ext>
            </a:extLst>
          </p:cNvPr>
          <p:cNvSpPr>
            <a:spLocks noGrp="1"/>
          </p:cNvSpPr>
          <p:nvPr>
            <p:ph type="sldNum" sz="quarter" idx="4"/>
          </p:nvPr>
        </p:nvSpPr>
        <p:spPr/>
        <p:txBody>
          <a:bodyPr/>
          <a:lstStyle/>
          <a:p>
            <a:fld id="{84E4409A-E250-43DE-AEC0-E766029F0D9A}" type="slidenum">
              <a:rPr lang="fa-IR" smtClean="0"/>
              <a:pPr/>
              <a:t>3</a:t>
            </a:fld>
            <a:endParaRPr lang="fa-IR" dirty="0"/>
          </a:p>
        </p:txBody>
      </p:sp>
      <p:sp>
        <p:nvSpPr>
          <p:cNvPr id="7" name="Title 1">
            <a:extLst>
              <a:ext uri="{FF2B5EF4-FFF2-40B4-BE49-F238E27FC236}">
                <a16:creationId xmlns:a16="http://schemas.microsoft.com/office/drawing/2014/main" id="{5F15C417-26B3-4D09-A1B6-EA69E748B3AF}"/>
              </a:ext>
            </a:extLst>
          </p:cNvPr>
          <p:cNvSpPr>
            <a:spLocks noGrp="1"/>
          </p:cNvSpPr>
          <p:nvPr>
            <p:ph type="title"/>
          </p:nvPr>
        </p:nvSpPr>
        <p:spPr>
          <a:xfrm>
            <a:off x="838200" y="365125"/>
            <a:ext cx="10515600" cy="1325563"/>
          </a:xfrm>
        </p:spPr>
        <p:txBody>
          <a:bodyPr>
            <a:normAutofit/>
          </a:bodyPr>
          <a:lstStyle/>
          <a:p>
            <a:r>
              <a:rPr lang="en-US" sz="3600" b="1" dirty="0">
                <a:solidFill>
                  <a:srgbClr val="0B3D91"/>
                </a:solidFill>
                <a:latin typeface="-apple-system"/>
              </a:rPr>
              <a:t> </a:t>
            </a:r>
            <a:r>
              <a:rPr lang="en-US" sz="4000" b="1" dirty="0">
                <a:solidFill>
                  <a:srgbClr val="0B3D91"/>
                </a:solidFill>
                <a:latin typeface="-apple-system"/>
              </a:rPr>
              <a:t>STM32CubeMX Configuration</a:t>
            </a:r>
            <a:br>
              <a:rPr lang="en-US" b="1" i="0" dirty="0">
                <a:solidFill>
                  <a:srgbClr val="0B1F3A"/>
                </a:solidFill>
                <a:effectLst/>
                <a:latin typeface="-apple-system"/>
              </a:rPr>
            </a:br>
            <a:endParaRPr lang="fa-IR" dirty="0"/>
          </a:p>
        </p:txBody>
      </p:sp>
      <p:cxnSp>
        <p:nvCxnSpPr>
          <p:cNvPr id="8" name="Straight Connector 7">
            <a:extLst>
              <a:ext uri="{FF2B5EF4-FFF2-40B4-BE49-F238E27FC236}">
                <a16:creationId xmlns:a16="http://schemas.microsoft.com/office/drawing/2014/main" id="{F7FAB976-801A-4B36-9AAC-6C0FD2ADA04C}"/>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18CBEA-8F04-445D-95EA-3FF49C755AC6}"/>
              </a:ext>
            </a:extLst>
          </p:cNvPr>
          <p:cNvSpPr txBox="1"/>
          <p:nvPr/>
        </p:nvSpPr>
        <p:spPr>
          <a:xfrm>
            <a:off x="838197" y="1191090"/>
            <a:ext cx="6334125" cy="369332"/>
          </a:xfrm>
          <a:prstGeom prst="rect">
            <a:avLst/>
          </a:prstGeom>
          <a:noFill/>
        </p:spPr>
        <p:txBody>
          <a:bodyPr wrap="square">
            <a:spAutoFit/>
          </a:bodyPr>
          <a:lstStyle/>
          <a:p>
            <a:r>
              <a:rPr lang="en-US" cap="all" dirty="0">
                <a:solidFill>
                  <a:srgbClr val="6B7A90"/>
                </a:solidFill>
                <a:latin typeface="-apple-system"/>
              </a:rPr>
              <a:t>Peripheral Setup, Pin Mapping, and System Initialization</a:t>
            </a:r>
            <a:endParaRPr lang="fa-IR" cap="all" dirty="0">
              <a:solidFill>
                <a:srgbClr val="6B7A90"/>
              </a:solidFill>
              <a:latin typeface="-apple-system"/>
            </a:endParaRPr>
          </a:p>
        </p:txBody>
      </p:sp>
      <p:cxnSp>
        <p:nvCxnSpPr>
          <p:cNvPr id="15" name="Straight Arrow Connector 14">
            <a:extLst>
              <a:ext uri="{FF2B5EF4-FFF2-40B4-BE49-F238E27FC236}">
                <a16:creationId xmlns:a16="http://schemas.microsoft.com/office/drawing/2014/main" id="{0597D6F3-AF47-4E10-A787-111B1D763848}"/>
              </a:ext>
            </a:extLst>
          </p:cNvPr>
          <p:cNvCxnSpPr>
            <a:cxnSpLocks/>
          </p:cNvCxnSpPr>
          <p:nvPr/>
        </p:nvCxnSpPr>
        <p:spPr>
          <a:xfrm flipH="1">
            <a:off x="4097931" y="5466752"/>
            <a:ext cx="522707" cy="116925"/>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2E3BFE34-F3E0-4D74-BD8E-9841B3E2657F}"/>
              </a:ext>
            </a:extLst>
          </p:cNvPr>
          <p:cNvSpPr/>
          <p:nvPr/>
        </p:nvSpPr>
        <p:spPr>
          <a:xfrm>
            <a:off x="2217213" y="5483664"/>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USART2_RX</a:t>
            </a:r>
          </a:p>
        </p:txBody>
      </p:sp>
      <p:sp>
        <p:nvSpPr>
          <p:cNvPr id="17" name="Rectangle: Rounded Corners 16">
            <a:extLst>
              <a:ext uri="{FF2B5EF4-FFF2-40B4-BE49-F238E27FC236}">
                <a16:creationId xmlns:a16="http://schemas.microsoft.com/office/drawing/2014/main" id="{EFF0CEB0-A4AE-4896-A326-94310B58F2D8}"/>
              </a:ext>
            </a:extLst>
          </p:cNvPr>
          <p:cNvSpPr/>
          <p:nvPr/>
        </p:nvSpPr>
        <p:spPr>
          <a:xfrm>
            <a:off x="2217213" y="5235166"/>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USART2_TX</a:t>
            </a:r>
          </a:p>
        </p:txBody>
      </p:sp>
      <p:cxnSp>
        <p:nvCxnSpPr>
          <p:cNvPr id="18" name="Straight Arrow Connector 17">
            <a:extLst>
              <a:ext uri="{FF2B5EF4-FFF2-40B4-BE49-F238E27FC236}">
                <a16:creationId xmlns:a16="http://schemas.microsoft.com/office/drawing/2014/main" id="{59828900-3E9D-4368-BED1-2330F66835FA}"/>
              </a:ext>
            </a:extLst>
          </p:cNvPr>
          <p:cNvCxnSpPr>
            <a:cxnSpLocks/>
          </p:cNvCxnSpPr>
          <p:nvPr/>
        </p:nvCxnSpPr>
        <p:spPr>
          <a:xfrm flipH="1">
            <a:off x="4097931" y="5204516"/>
            <a:ext cx="220581" cy="130663"/>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2501863-70D2-42E4-A705-9E7952EDFEFA}"/>
              </a:ext>
            </a:extLst>
          </p:cNvPr>
          <p:cNvCxnSpPr>
            <a:cxnSpLocks/>
          </p:cNvCxnSpPr>
          <p:nvPr/>
        </p:nvCxnSpPr>
        <p:spPr>
          <a:xfrm>
            <a:off x="7753997" y="3282672"/>
            <a:ext cx="219456" cy="0"/>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AB95F809-0AC8-4DD3-BDC8-C8452BB668F7}"/>
              </a:ext>
            </a:extLst>
          </p:cNvPr>
          <p:cNvSpPr/>
          <p:nvPr/>
        </p:nvSpPr>
        <p:spPr>
          <a:xfrm>
            <a:off x="8012209" y="3182659"/>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OLED RST</a:t>
            </a:r>
          </a:p>
        </p:txBody>
      </p:sp>
      <p:cxnSp>
        <p:nvCxnSpPr>
          <p:cNvPr id="35" name="Straight Arrow Connector 34">
            <a:extLst>
              <a:ext uri="{FF2B5EF4-FFF2-40B4-BE49-F238E27FC236}">
                <a16:creationId xmlns:a16="http://schemas.microsoft.com/office/drawing/2014/main" id="{A6B590CC-7B21-44D9-9C07-15F6B496C47E}"/>
              </a:ext>
            </a:extLst>
          </p:cNvPr>
          <p:cNvCxnSpPr/>
          <p:nvPr/>
        </p:nvCxnSpPr>
        <p:spPr>
          <a:xfrm flipH="1">
            <a:off x="4097932" y="4959049"/>
            <a:ext cx="220581" cy="0"/>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4930D006-9C82-4FC2-9A10-BC04C50E37C2}"/>
              </a:ext>
            </a:extLst>
          </p:cNvPr>
          <p:cNvSpPr/>
          <p:nvPr/>
        </p:nvSpPr>
        <p:spPr>
          <a:xfrm>
            <a:off x="2217214" y="4857251"/>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Button(B1_Pin)</a:t>
            </a:r>
          </a:p>
        </p:txBody>
      </p:sp>
      <p:pic>
        <p:nvPicPr>
          <p:cNvPr id="3" name="Picture 2">
            <a:extLst>
              <a:ext uri="{FF2B5EF4-FFF2-40B4-BE49-F238E27FC236}">
                <a16:creationId xmlns:a16="http://schemas.microsoft.com/office/drawing/2014/main" id="{3038A28D-F4C0-9C33-7D53-B12A791F1AF7}"/>
              </a:ext>
            </a:extLst>
          </p:cNvPr>
          <p:cNvPicPr>
            <a:picLocks noChangeAspect="1"/>
          </p:cNvPicPr>
          <p:nvPr/>
        </p:nvPicPr>
        <p:blipFill>
          <a:blip r:embed="rId2"/>
          <a:stretch>
            <a:fillRect/>
          </a:stretch>
        </p:blipFill>
        <p:spPr>
          <a:xfrm>
            <a:off x="4318513" y="2037042"/>
            <a:ext cx="3435484" cy="3429710"/>
          </a:xfrm>
          <a:prstGeom prst="rect">
            <a:avLst/>
          </a:prstGeom>
        </p:spPr>
      </p:pic>
      <p:cxnSp>
        <p:nvCxnSpPr>
          <p:cNvPr id="36" name="Straight Connector 35">
            <a:extLst>
              <a:ext uri="{FF2B5EF4-FFF2-40B4-BE49-F238E27FC236}">
                <a16:creationId xmlns:a16="http://schemas.microsoft.com/office/drawing/2014/main" id="{2BCF2BA9-4BC8-5137-DD69-9CBE194A15BF}"/>
              </a:ext>
            </a:extLst>
          </p:cNvPr>
          <p:cNvCxnSpPr/>
          <p:nvPr/>
        </p:nvCxnSpPr>
        <p:spPr>
          <a:xfrm>
            <a:off x="5092485" y="5466752"/>
            <a:ext cx="0" cy="716334"/>
          </a:xfrm>
          <a:prstGeom prst="line">
            <a:avLst/>
          </a:prstGeom>
          <a:ln>
            <a:solidFill>
              <a:srgbClr val="0B3D9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39E9566-69AA-4265-1C28-4957BD4A32ED}"/>
              </a:ext>
            </a:extLst>
          </p:cNvPr>
          <p:cNvCxnSpPr>
            <a:cxnSpLocks/>
          </p:cNvCxnSpPr>
          <p:nvPr/>
        </p:nvCxnSpPr>
        <p:spPr>
          <a:xfrm>
            <a:off x="4953000" y="5435191"/>
            <a:ext cx="0" cy="435311"/>
          </a:xfrm>
          <a:prstGeom prst="line">
            <a:avLst/>
          </a:prstGeom>
          <a:ln>
            <a:solidFill>
              <a:srgbClr val="0B3D9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7A3183B-5977-BFED-C570-324CFFA09973}"/>
              </a:ext>
            </a:extLst>
          </p:cNvPr>
          <p:cNvCxnSpPr/>
          <p:nvPr/>
        </p:nvCxnSpPr>
        <p:spPr>
          <a:xfrm>
            <a:off x="5198391" y="5466752"/>
            <a:ext cx="0" cy="716334"/>
          </a:xfrm>
          <a:prstGeom prst="line">
            <a:avLst/>
          </a:prstGeom>
          <a:ln>
            <a:solidFill>
              <a:srgbClr val="0B3D9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3D6DD38-077C-2654-5064-194D1405AC07}"/>
              </a:ext>
            </a:extLst>
          </p:cNvPr>
          <p:cNvCxnSpPr>
            <a:cxnSpLocks/>
          </p:cNvCxnSpPr>
          <p:nvPr/>
        </p:nvCxnSpPr>
        <p:spPr>
          <a:xfrm>
            <a:off x="5322376" y="5435191"/>
            <a:ext cx="0" cy="443061"/>
          </a:xfrm>
          <a:prstGeom prst="line">
            <a:avLst/>
          </a:prstGeom>
          <a:ln>
            <a:solidFill>
              <a:srgbClr val="0B3D91"/>
            </a:solidFill>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C00BEF8-BEF9-ADE1-350F-5C60DA4D2C12}"/>
              </a:ext>
            </a:extLst>
          </p:cNvPr>
          <p:cNvCxnSpPr>
            <a:cxnSpLocks/>
          </p:cNvCxnSpPr>
          <p:nvPr/>
        </p:nvCxnSpPr>
        <p:spPr>
          <a:xfrm>
            <a:off x="5322376" y="5870503"/>
            <a:ext cx="440410" cy="0"/>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637755F-7D44-8D91-D14B-E32BD97FC03A}"/>
              </a:ext>
            </a:extLst>
          </p:cNvPr>
          <p:cNvCxnSpPr>
            <a:cxnSpLocks/>
          </p:cNvCxnSpPr>
          <p:nvPr/>
        </p:nvCxnSpPr>
        <p:spPr>
          <a:xfrm>
            <a:off x="5198391" y="6173492"/>
            <a:ext cx="564395" cy="0"/>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3F51732-9ABF-BAA6-9683-F4E5135FA0EF}"/>
              </a:ext>
            </a:extLst>
          </p:cNvPr>
          <p:cNvCxnSpPr>
            <a:cxnSpLocks/>
          </p:cNvCxnSpPr>
          <p:nvPr/>
        </p:nvCxnSpPr>
        <p:spPr>
          <a:xfrm flipH="1">
            <a:off x="4097931" y="6180503"/>
            <a:ext cx="994554" cy="9235"/>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787D39E-610F-B226-6A9E-E8C1FFD6BF0B}"/>
              </a:ext>
            </a:extLst>
          </p:cNvPr>
          <p:cNvCxnSpPr>
            <a:cxnSpLocks/>
          </p:cNvCxnSpPr>
          <p:nvPr/>
        </p:nvCxnSpPr>
        <p:spPr>
          <a:xfrm flipH="1">
            <a:off x="4097931" y="5870502"/>
            <a:ext cx="855069" cy="0"/>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Rounded Corners 58">
            <a:extLst>
              <a:ext uri="{FF2B5EF4-FFF2-40B4-BE49-F238E27FC236}">
                <a16:creationId xmlns:a16="http://schemas.microsoft.com/office/drawing/2014/main" id="{4FFCCC42-2DEE-840C-B908-B3EC897E1380}"/>
              </a:ext>
            </a:extLst>
          </p:cNvPr>
          <p:cNvSpPr/>
          <p:nvPr/>
        </p:nvSpPr>
        <p:spPr>
          <a:xfrm>
            <a:off x="5808069" y="5770490"/>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SPI1_MOSI</a:t>
            </a:r>
          </a:p>
        </p:txBody>
      </p:sp>
      <p:sp>
        <p:nvSpPr>
          <p:cNvPr id="62" name="Rectangle: Rounded Corners 61">
            <a:extLst>
              <a:ext uri="{FF2B5EF4-FFF2-40B4-BE49-F238E27FC236}">
                <a16:creationId xmlns:a16="http://schemas.microsoft.com/office/drawing/2014/main" id="{74CB418D-C3DF-646B-6CB1-76CD0597C35E}"/>
              </a:ext>
            </a:extLst>
          </p:cNvPr>
          <p:cNvSpPr/>
          <p:nvPr/>
        </p:nvSpPr>
        <p:spPr>
          <a:xfrm>
            <a:off x="5808069" y="6081977"/>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OLED_DC</a:t>
            </a:r>
          </a:p>
        </p:txBody>
      </p:sp>
      <p:sp>
        <p:nvSpPr>
          <p:cNvPr id="66" name="Rectangle: Rounded Corners 65">
            <a:extLst>
              <a:ext uri="{FF2B5EF4-FFF2-40B4-BE49-F238E27FC236}">
                <a16:creationId xmlns:a16="http://schemas.microsoft.com/office/drawing/2014/main" id="{B37AEBE6-75D8-9409-3436-AAF766E47EE3}"/>
              </a:ext>
            </a:extLst>
          </p:cNvPr>
          <p:cNvSpPr/>
          <p:nvPr/>
        </p:nvSpPr>
        <p:spPr>
          <a:xfrm>
            <a:off x="2217213" y="6084345"/>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SPI1_SCK</a:t>
            </a:r>
          </a:p>
        </p:txBody>
      </p:sp>
      <p:sp>
        <p:nvSpPr>
          <p:cNvPr id="68" name="Rectangle: Rounded Corners 67">
            <a:extLst>
              <a:ext uri="{FF2B5EF4-FFF2-40B4-BE49-F238E27FC236}">
                <a16:creationId xmlns:a16="http://schemas.microsoft.com/office/drawing/2014/main" id="{E155ACF9-3240-3B90-2688-22317510D398}"/>
              </a:ext>
            </a:extLst>
          </p:cNvPr>
          <p:cNvSpPr/>
          <p:nvPr/>
        </p:nvSpPr>
        <p:spPr>
          <a:xfrm>
            <a:off x="2217213" y="5773626"/>
            <a:ext cx="1843087" cy="20002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solidFill>
                  <a:srgbClr val="33475B"/>
                </a:solidFill>
                <a:latin typeface="-apple-system"/>
              </a:rPr>
              <a:t>OLED_CS</a:t>
            </a:r>
          </a:p>
        </p:txBody>
      </p:sp>
    </p:spTree>
    <p:extLst>
      <p:ext uri="{BB962C8B-B14F-4D97-AF65-F5344CB8AC3E}">
        <p14:creationId xmlns:p14="http://schemas.microsoft.com/office/powerpoint/2010/main" val="111825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31028-BD53-1656-C7F1-B16B38A223F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1B9AA6-38C9-B190-37B8-451363C3C1A7}"/>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A30438AF-372C-16E6-5F16-438AE8B5AE7A}"/>
              </a:ext>
            </a:extLst>
          </p:cNvPr>
          <p:cNvSpPr>
            <a:spLocks noGrp="1"/>
          </p:cNvSpPr>
          <p:nvPr>
            <p:ph type="sldNum" sz="quarter" idx="4"/>
          </p:nvPr>
        </p:nvSpPr>
        <p:spPr/>
        <p:txBody>
          <a:bodyPr/>
          <a:lstStyle/>
          <a:p>
            <a:fld id="{84E4409A-E250-43DE-AEC0-E766029F0D9A}" type="slidenum">
              <a:rPr lang="fa-IR" smtClean="0"/>
              <a:pPr/>
              <a:t>4</a:t>
            </a:fld>
            <a:endParaRPr lang="fa-IR" dirty="0"/>
          </a:p>
        </p:txBody>
      </p:sp>
      <p:sp>
        <p:nvSpPr>
          <p:cNvPr id="6" name="Title 1">
            <a:extLst>
              <a:ext uri="{FF2B5EF4-FFF2-40B4-BE49-F238E27FC236}">
                <a16:creationId xmlns:a16="http://schemas.microsoft.com/office/drawing/2014/main" id="{6F79AAA8-006F-02D0-7A91-15583DF905AF}"/>
              </a:ext>
            </a:extLst>
          </p:cNvPr>
          <p:cNvSpPr>
            <a:spLocks noGrp="1"/>
          </p:cNvSpPr>
          <p:nvPr>
            <p:ph type="title"/>
          </p:nvPr>
        </p:nvSpPr>
        <p:spPr>
          <a:xfrm>
            <a:off x="838200" y="365125"/>
            <a:ext cx="10515600" cy="1325563"/>
          </a:xfrm>
        </p:spPr>
        <p:txBody>
          <a:bodyPr>
            <a:normAutofit/>
          </a:bodyPr>
          <a:lstStyle/>
          <a:p>
            <a:r>
              <a:rPr lang="en-US" sz="3600" b="1" dirty="0">
                <a:solidFill>
                  <a:srgbClr val="0B3D91"/>
                </a:solidFill>
                <a:latin typeface="-apple-system"/>
              </a:rPr>
              <a:t> </a:t>
            </a:r>
            <a:r>
              <a:rPr lang="en-US" sz="4000" b="1" dirty="0">
                <a:solidFill>
                  <a:srgbClr val="0B3D91"/>
                </a:solidFill>
                <a:latin typeface="-apple-system"/>
              </a:rPr>
              <a:t>Three Development Phases</a:t>
            </a:r>
            <a:br>
              <a:rPr lang="en-US" b="1" i="0" dirty="0">
                <a:solidFill>
                  <a:srgbClr val="0B1F3A"/>
                </a:solidFill>
                <a:effectLst/>
                <a:latin typeface="-apple-system"/>
              </a:rPr>
            </a:br>
            <a:endParaRPr lang="fa-IR" dirty="0"/>
          </a:p>
        </p:txBody>
      </p:sp>
      <p:sp>
        <p:nvSpPr>
          <p:cNvPr id="7" name="TextBox 6">
            <a:extLst>
              <a:ext uri="{FF2B5EF4-FFF2-40B4-BE49-F238E27FC236}">
                <a16:creationId xmlns:a16="http://schemas.microsoft.com/office/drawing/2014/main" id="{EC4DD750-5F8E-E3C3-02F2-50B5D6519219}"/>
              </a:ext>
            </a:extLst>
          </p:cNvPr>
          <p:cNvSpPr txBox="1"/>
          <p:nvPr/>
        </p:nvSpPr>
        <p:spPr>
          <a:xfrm>
            <a:off x="828675" y="1180930"/>
            <a:ext cx="6096000" cy="369332"/>
          </a:xfrm>
          <a:prstGeom prst="rect">
            <a:avLst/>
          </a:prstGeom>
          <a:noFill/>
        </p:spPr>
        <p:txBody>
          <a:bodyPr wrap="square">
            <a:spAutoFit/>
          </a:bodyPr>
          <a:lstStyle/>
          <a:p>
            <a:r>
              <a:rPr lang="en-US" cap="all" dirty="0">
                <a:solidFill>
                  <a:srgbClr val="6B7A90"/>
                </a:solidFill>
                <a:latin typeface="-apple-system"/>
              </a:rPr>
              <a:t>Each phase added one layer to the same firmware</a:t>
            </a:r>
            <a:endParaRPr lang="fa-IR" dirty="0"/>
          </a:p>
        </p:txBody>
      </p:sp>
      <p:cxnSp>
        <p:nvCxnSpPr>
          <p:cNvPr id="8" name="Straight Connector 7">
            <a:extLst>
              <a:ext uri="{FF2B5EF4-FFF2-40B4-BE49-F238E27FC236}">
                <a16:creationId xmlns:a16="http://schemas.microsoft.com/office/drawing/2014/main" id="{156CCBD0-6634-E4A8-01B1-288BE77D37CC}"/>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FB67EC01-9E2B-1A96-B9DD-2EC8C1E14E46}"/>
              </a:ext>
            </a:extLst>
          </p:cNvPr>
          <p:cNvSpPr/>
          <p:nvPr/>
        </p:nvSpPr>
        <p:spPr>
          <a:xfrm>
            <a:off x="134769" y="1875542"/>
            <a:ext cx="3606523" cy="3102858"/>
          </a:xfrm>
          <a:prstGeom prst="roundRect">
            <a:avLst/>
          </a:prstGeom>
          <a:solidFill>
            <a:srgbClr val="F5FEC2"/>
          </a:solidFill>
          <a:ln>
            <a:solidFill>
              <a:srgbClr val="FFB70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latin typeface="-apple-system"/>
              </a:rPr>
              <a:t>Phase1</a:t>
            </a:r>
          </a:p>
          <a:p>
            <a:pPr algn="ctr"/>
            <a:r>
              <a:rPr lang="en-US" sz="1400" dirty="0">
                <a:solidFill>
                  <a:schemeClr val="accent2">
                    <a:lumMod val="50000"/>
                  </a:schemeClr>
                </a:solidFill>
              </a:rPr>
              <a:t>Infrastructure, Data &amp; Model Development</a:t>
            </a:r>
          </a:p>
          <a:p>
            <a:pPr algn="ctr"/>
            <a:endParaRPr lang="en-US" sz="1200" dirty="0">
              <a:solidFill>
                <a:schemeClr val="accent2">
                  <a:lumMod val="50000"/>
                </a:schemeClr>
              </a:solidFill>
              <a:latin typeface="-apple-system"/>
            </a:endParaRPr>
          </a:p>
          <a:p>
            <a:r>
              <a:rPr lang="en-US" sz="1200" dirty="0">
                <a:solidFill>
                  <a:schemeClr val="accent2">
                    <a:lumMod val="50000"/>
                  </a:schemeClr>
                </a:solidFill>
              </a:rPr>
              <a:t>Environment Setup: STM32CubeMX, Keil MDK, Proteus simulator</a:t>
            </a:r>
          </a:p>
          <a:p>
            <a:r>
              <a:rPr lang="en-US" sz="1200" dirty="0">
                <a:solidFill>
                  <a:schemeClr val="accent2">
                    <a:lumMod val="50000"/>
                  </a:schemeClr>
                </a:solidFill>
              </a:rPr>
              <a:t>Hardware Configuration: STM32F401VE (84 MHz, 96 KB RAM, 512 KB Flash)</a:t>
            </a:r>
          </a:p>
          <a:p>
            <a:r>
              <a:rPr lang="en-US" sz="1200" dirty="0">
                <a:solidFill>
                  <a:schemeClr val="accent2">
                    <a:lumMod val="50000"/>
                  </a:schemeClr>
                </a:solidFill>
              </a:rPr>
              <a:t>Synthetic Dataset Generation: 96×96 grayscale images (noise + random obstacle squares)</a:t>
            </a:r>
          </a:p>
          <a:p>
            <a:r>
              <a:rPr lang="en-US" sz="1200" dirty="0">
                <a:solidFill>
                  <a:schemeClr val="accent2">
                    <a:lumMod val="50000"/>
                  </a:schemeClr>
                </a:solidFill>
              </a:rPr>
              <a:t>Data Preprocessing: Fixed‑point normalization (no FPU)</a:t>
            </a:r>
          </a:p>
          <a:p>
            <a:r>
              <a:rPr lang="en-US" sz="1200" dirty="0">
                <a:solidFill>
                  <a:schemeClr val="accent2">
                    <a:lumMod val="50000"/>
                  </a:schemeClr>
                </a:solidFill>
              </a:rPr>
              <a:t>CNN Design: Lightweight </a:t>
            </a:r>
            <a:r>
              <a:rPr lang="en-US" sz="1200" dirty="0" err="1">
                <a:solidFill>
                  <a:schemeClr val="accent2">
                    <a:lumMod val="50000"/>
                  </a:schemeClr>
                </a:solidFill>
              </a:rPr>
              <a:t>depthwise</a:t>
            </a:r>
            <a:r>
              <a:rPr lang="en-US" sz="1200" dirty="0">
                <a:solidFill>
                  <a:schemeClr val="accent2">
                    <a:lumMod val="50000"/>
                  </a:schemeClr>
                </a:solidFill>
              </a:rPr>
              <a:t>‑separable architecture (~16k params)</a:t>
            </a:r>
          </a:p>
          <a:p>
            <a:r>
              <a:rPr lang="en-US" sz="1200" dirty="0">
                <a:solidFill>
                  <a:schemeClr val="accent2">
                    <a:lumMod val="50000"/>
                  </a:schemeClr>
                </a:solidFill>
              </a:rPr>
              <a:t>Training &amp; Optimization: </a:t>
            </a:r>
            <a:r>
              <a:rPr lang="en-US" sz="1200" dirty="0" err="1">
                <a:solidFill>
                  <a:schemeClr val="accent2">
                    <a:lumMod val="50000"/>
                  </a:schemeClr>
                </a:solidFill>
              </a:rPr>
              <a:t>PyTorch</a:t>
            </a:r>
            <a:r>
              <a:rPr lang="en-US" sz="1200" dirty="0">
                <a:solidFill>
                  <a:schemeClr val="accent2">
                    <a:lumMod val="50000"/>
                  </a:schemeClr>
                </a:solidFill>
              </a:rPr>
              <a:t> → ONNX → (</a:t>
            </a:r>
            <a:r>
              <a:rPr lang="en-US" sz="1200" dirty="0">
                <a:solidFill>
                  <a:schemeClr val="accent2">
                    <a:lumMod val="50000"/>
                  </a:schemeClr>
                </a:solidFill>
                <a:hlinkClick r:id="rId2">
                  <a:extLst>
                    <a:ext uri="{A12FA001-AC4F-418D-AE19-62706E023703}">
                      <ahyp:hlinkClr xmlns:ahyp="http://schemas.microsoft.com/office/drawing/2018/hyperlinkcolor" val="tx"/>
                    </a:ext>
                  </a:extLst>
                </a:hlinkClick>
              </a:rPr>
              <a:t>STM32Cube.AI</a:t>
            </a:r>
            <a:r>
              <a:rPr lang="en-US" sz="1200" dirty="0">
                <a:solidFill>
                  <a:schemeClr val="accent2">
                    <a:lumMod val="50000"/>
                  </a:schemeClr>
                </a:solidFill>
              </a:rPr>
              <a:t>)</a:t>
            </a:r>
          </a:p>
        </p:txBody>
      </p:sp>
      <p:sp>
        <p:nvSpPr>
          <p:cNvPr id="14" name="Rectangle: Rounded Corners 13">
            <a:extLst>
              <a:ext uri="{FF2B5EF4-FFF2-40B4-BE49-F238E27FC236}">
                <a16:creationId xmlns:a16="http://schemas.microsoft.com/office/drawing/2014/main" id="{CA04AE45-2193-AF2D-C838-6872834F0BA2}"/>
              </a:ext>
            </a:extLst>
          </p:cNvPr>
          <p:cNvSpPr/>
          <p:nvPr/>
        </p:nvSpPr>
        <p:spPr>
          <a:xfrm>
            <a:off x="4143782" y="1917212"/>
            <a:ext cx="3606523" cy="3061188"/>
          </a:xfrm>
          <a:prstGeom prst="roundRect">
            <a:avLst/>
          </a:prstGeom>
          <a:solidFill>
            <a:schemeClr val="accent6">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latin typeface="-apple-system"/>
              </a:rPr>
              <a:t>phase2</a:t>
            </a:r>
          </a:p>
          <a:p>
            <a:pPr algn="ctr"/>
            <a:r>
              <a:rPr lang="en-US" sz="1400" dirty="0" err="1">
                <a:solidFill>
                  <a:schemeClr val="accent2">
                    <a:lumMod val="50000"/>
                  </a:schemeClr>
                </a:solidFill>
              </a:rPr>
              <a:t>TinyML</a:t>
            </a:r>
            <a:r>
              <a:rPr lang="en-US" sz="1400" dirty="0">
                <a:solidFill>
                  <a:schemeClr val="accent2">
                    <a:lumMod val="50000"/>
                  </a:schemeClr>
                </a:solidFill>
              </a:rPr>
              <a:t> Deployment &amp; Decision Logic</a:t>
            </a:r>
          </a:p>
          <a:p>
            <a:pPr algn="ctr"/>
            <a:endParaRPr lang="en-US" sz="1000" dirty="0">
              <a:solidFill>
                <a:schemeClr val="accent2">
                  <a:lumMod val="50000"/>
                </a:schemeClr>
              </a:solidFill>
              <a:latin typeface="-apple-system"/>
            </a:endParaRPr>
          </a:p>
          <a:p>
            <a:r>
              <a:rPr lang="en-US" sz="1200" dirty="0">
                <a:solidFill>
                  <a:schemeClr val="accent2">
                    <a:lumMod val="50000"/>
                  </a:schemeClr>
                </a:solidFill>
              </a:rPr>
              <a:t>AI Inference: CMSIS‑NN accelerated inference on STM32 (bare‑metal C)</a:t>
            </a:r>
          </a:p>
          <a:p>
            <a:r>
              <a:rPr lang="en-US" sz="1200" dirty="0">
                <a:solidFill>
                  <a:schemeClr val="accent2">
                    <a:lumMod val="50000"/>
                  </a:schemeClr>
                </a:solidFill>
              </a:rPr>
              <a:t>Sensor Simulation: Dynamic frame generator (obstacle size/probability)</a:t>
            </a:r>
          </a:p>
          <a:p>
            <a:r>
              <a:rPr lang="en-US" sz="1200" dirty="0">
                <a:solidFill>
                  <a:schemeClr val="accent2">
                    <a:lumMod val="50000"/>
                  </a:schemeClr>
                </a:solidFill>
              </a:rPr>
              <a:t>Risk Assessment: Time‑to‑Collision (TTC) calculation from simulated distance/speed</a:t>
            </a:r>
          </a:p>
          <a:p>
            <a:r>
              <a:rPr lang="en-US" sz="1200" dirty="0">
                <a:solidFill>
                  <a:schemeClr val="accent2">
                    <a:lumMod val="50000"/>
                  </a:schemeClr>
                </a:solidFill>
              </a:rPr>
              <a:t>Finite State Machine (FSM): States – NORMAL, WARNING, BRAKE, SAFE_STOP</a:t>
            </a:r>
          </a:p>
          <a:p>
            <a:r>
              <a:rPr lang="en-US" sz="1200" dirty="0">
                <a:solidFill>
                  <a:schemeClr val="accent2">
                    <a:lumMod val="50000"/>
                  </a:schemeClr>
                </a:solidFill>
              </a:rPr>
              <a:t>Graphical LCD (ILI9341): Displays state, obstacle probability, TTC, and live frame</a:t>
            </a:r>
          </a:p>
          <a:p>
            <a:r>
              <a:rPr lang="en-US" sz="1200" dirty="0">
                <a:solidFill>
                  <a:schemeClr val="accent2">
                    <a:lumMod val="50000"/>
                  </a:schemeClr>
                </a:solidFill>
              </a:rPr>
              <a:t>UART Logging: Transmits inference latency, RAM usage, and state changes for debugging</a:t>
            </a:r>
          </a:p>
        </p:txBody>
      </p:sp>
      <p:sp>
        <p:nvSpPr>
          <p:cNvPr id="15" name="Rectangle: Rounded Corners 14">
            <a:extLst>
              <a:ext uri="{FF2B5EF4-FFF2-40B4-BE49-F238E27FC236}">
                <a16:creationId xmlns:a16="http://schemas.microsoft.com/office/drawing/2014/main" id="{6FBA9AC7-1636-FA2E-F29E-F865C8954ADB}"/>
              </a:ext>
            </a:extLst>
          </p:cNvPr>
          <p:cNvSpPr/>
          <p:nvPr/>
        </p:nvSpPr>
        <p:spPr>
          <a:xfrm>
            <a:off x="8152796" y="1917213"/>
            <a:ext cx="3714076" cy="3061188"/>
          </a:xfrm>
          <a:prstGeom prst="roundRect">
            <a:avLst/>
          </a:prstGeom>
          <a:solidFill>
            <a:schemeClr val="tx2">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b="1" dirty="0">
                <a:solidFill>
                  <a:schemeClr val="tx1"/>
                </a:solidFill>
                <a:latin typeface="-apple-system"/>
              </a:rPr>
              <a:t>phase3</a:t>
            </a:r>
          </a:p>
          <a:p>
            <a:pPr algn="ctr"/>
            <a:r>
              <a:rPr lang="en-US" sz="1600" dirty="0">
                <a:solidFill>
                  <a:schemeClr val="accent2">
                    <a:lumMod val="50000"/>
                  </a:schemeClr>
                </a:solidFill>
              </a:rPr>
              <a:t>Integration, Emergency Scenarios</a:t>
            </a:r>
          </a:p>
          <a:p>
            <a:pPr algn="ctr"/>
            <a:endParaRPr lang="en-US" sz="1400" dirty="0">
              <a:solidFill>
                <a:schemeClr val="accent2">
                  <a:lumMod val="50000"/>
                </a:schemeClr>
              </a:solidFill>
            </a:endParaRPr>
          </a:p>
          <a:p>
            <a:r>
              <a:rPr lang="en-US" sz="1200" b="1" dirty="0">
                <a:solidFill>
                  <a:schemeClr val="accent2">
                    <a:lumMod val="50000"/>
                  </a:schemeClr>
                </a:solidFill>
              </a:rPr>
              <a:t>System Integration</a:t>
            </a:r>
            <a:r>
              <a:rPr lang="en-US" sz="1200" dirty="0">
                <a:solidFill>
                  <a:schemeClr val="accent2">
                    <a:lumMod val="50000"/>
                  </a:schemeClr>
                </a:solidFill>
              </a:rPr>
              <a:t>: FSM output to actuator signals (GPIO toggles)</a:t>
            </a:r>
          </a:p>
          <a:p>
            <a:r>
              <a:rPr lang="en-US" sz="1200" b="1" dirty="0">
                <a:solidFill>
                  <a:schemeClr val="accent2">
                    <a:lumMod val="50000"/>
                  </a:schemeClr>
                </a:solidFill>
              </a:rPr>
              <a:t>Team Coordination</a:t>
            </a:r>
            <a:r>
              <a:rPr lang="en-US" sz="1200" dirty="0">
                <a:solidFill>
                  <a:schemeClr val="accent2">
                    <a:lumMod val="50000"/>
                  </a:schemeClr>
                </a:solidFill>
              </a:rPr>
              <a:t>: Send state and speed data to other modules (team members 4 &amp; 3)</a:t>
            </a:r>
          </a:p>
          <a:p>
            <a:r>
              <a:rPr lang="en-US" sz="1200" b="1" dirty="0">
                <a:solidFill>
                  <a:schemeClr val="accent2">
                    <a:lumMod val="50000"/>
                  </a:schemeClr>
                </a:solidFill>
              </a:rPr>
              <a:t>Emergency Scenarios</a:t>
            </a:r>
            <a:r>
              <a:rPr lang="en-US" sz="1200" dirty="0">
                <a:solidFill>
                  <a:schemeClr val="accent2">
                    <a:lumMod val="50000"/>
                  </a:schemeClr>
                </a:solidFill>
              </a:rPr>
              <a:t>: TTC‑based braking logic with &lt;50ms reaction time</a:t>
            </a:r>
          </a:p>
          <a:p>
            <a:r>
              <a:rPr lang="en-US" sz="1200" b="1" dirty="0">
                <a:solidFill>
                  <a:schemeClr val="accent2">
                    <a:lumMod val="50000"/>
                  </a:schemeClr>
                </a:solidFill>
              </a:rPr>
              <a:t>IoT (Optional)</a:t>
            </a:r>
            <a:r>
              <a:rPr lang="en-US" sz="1200" dirty="0">
                <a:solidFill>
                  <a:schemeClr val="accent2">
                    <a:lumMod val="50000"/>
                  </a:schemeClr>
                </a:solidFill>
              </a:rPr>
              <a:t>: Transmit emergency braking status via UART / wireless link</a:t>
            </a:r>
          </a:p>
          <a:p>
            <a:r>
              <a:rPr lang="en-US" sz="1200" b="1" dirty="0">
                <a:solidFill>
                  <a:schemeClr val="accent2">
                    <a:lumMod val="50000"/>
                  </a:schemeClr>
                </a:solidFill>
              </a:rPr>
              <a:t>Full Proteus Simulation</a:t>
            </a:r>
            <a:r>
              <a:rPr lang="en-US" sz="1200" dirty="0">
                <a:solidFill>
                  <a:schemeClr val="accent2">
                    <a:lumMod val="50000"/>
                  </a:schemeClr>
                </a:solidFill>
              </a:rPr>
              <a:t>: Virtual terminal, LCD, and cycle‑accurate timing validation</a:t>
            </a:r>
          </a:p>
          <a:p>
            <a:r>
              <a:rPr lang="en-US" sz="1200" b="1" dirty="0">
                <a:solidFill>
                  <a:schemeClr val="accent2">
                    <a:lumMod val="50000"/>
                  </a:schemeClr>
                </a:solidFill>
              </a:rPr>
              <a:t>Performance Metrics</a:t>
            </a:r>
            <a:r>
              <a:rPr lang="en-US" sz="1200" dirty="0">
                <a:solidFill>
                  <a:schemeClr val="accent2">
                    <a:lumMod val="50000"/>
                  </a:schemeClr>
                </a:solidFill>
              </a:rPr>
              <a:t>: ~74 KB RAM, ~25.8 FPS, 38.7ms inference latency</a:t>
            </a:r>
          </a:p>
        </p:txBody>
      </p:sp>
      <p:sp>
        <p:nvSpPr>
          <p:cNvPr id="18" name="Rectangle: Rounded Corners 17">
            <a:extLst>
              <a:ext uri="{FF2B5EF4-FFF2-40B4-BE49-F238E27FC236}">
                <a16:creationId xmlns:a16="http://schemas.microsoft.com/office/drawing/2014/main" id="{3CDCD3A4-64D3-3BD7-696C-91FABC6A58D0}"/>
              </a:ext>
            </a:extLst>
          </p:cNvPr>
          <p:cNvSpPr/>
          <p:nvPr/>
        </p:nvSpPr>
        <p:spPr>
          <a:xfrm>
            <a:off x="4866639" y="5408826"/>
            <a:ext cx="1948087" cy="782469"/>
          </a:xfrm>
          <a:prstGeom prst="roundRect">
            <a:avLst/>
          </a:prstGeom>
          <a:solidFill>
            <a:srgbClr val="0B3D9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2400" b="1" i="0" dirty="0">
                <a:solidFill>
                  <a:schemeClr val="bg1"/>
                </a:solidFill>
                <a:effectLst/>
                <a:latin typeface="-apple-system"/>
              </a:rPr>
              <a:t>Node 5 </a:t>
            </a:r>
          </a:p>
          <a:p>
            <a:pPr algn="ctr"/>
            <a:r>
              <a:rPr lang="en-US" sz="1100" dirty="0">
                <a:solidFill>
                  <a:srgbClr val="FFFFFF"/>
                </a:solidFill>
                <a:latin typeface="-apple-system"/>
              </a:rPr>
              <a:t>Ai</a:t>
            </a:r>
            <a:r>
              <a:rPr lang="en-US" sz="1100" b="1" dirty="0">
                <a:solidFill>
                  <a:srgbClr val="FFFFFF"/>
                </a:solidFill>
                <a:latin typeface="-apple-system"/>
              </a:rPr>
              <a:t> </a:t>
            </a:r>
            <a:r>
              <a:rPr lang="en-US" sz="1100" dirty="0" err="1">
                <a:solidFill>
                  <a:srgbClr val="FFFFFF"/>
                </a:solidFill>
                <a:latin typeface="-apple-system"/>
              </a:rPr>
              <a:t>TinyOD</a:t>
            </a:r>
            <a:r>
              <a:rPr lang="en-US" sz="1100" dirty="0">
                <a:solidFill>
                  <a:srgbClr val="FFFFFF"/>
                </a:solidFill>
                <a:latin typeface="-apple-system"/>
              </a:rPr>
              <a:t>-Brake</a:t>
            </a:r>
            <a:endParaRPr lang="en-US" sz="1100" dirty="0">
              <a:solidFill>
                <a:prstClr val="white"/>
              </a:solidFill>
              <a:latin typeface="-apple-system"/>
            </a:endParaRPr>
          </a:p>
        </p:txBody>
      </p:sp>
      <p:cxnSp>
        <p:nvCxnSpPr>
          <p:cNvPr id="20" name="Straight Arrow Connector 19">
            <a:extLst>
              <a:ext uri="{FF2B5EF4-FFF2-40B4-BE49-F238E27FC236}">
                <a16:creationId xmlns:a16="http://schemas.microsoft.com/office/drawing/2014/main" id="{5AB0AD3F-8620-448F-F221-441C6DDE70CC}"/>
              </a:ext>
            </a:extLst>
          </p:cNvPr>
          <p:cNvCxnSpPr>
            <a:cxnSpLocks/>
          </p:cNvCxnSpPr>
          <p:nvPr/>
        </p:nvCxnSpPr>
        <p:spPr>
          <a:xfrm>
            <a:off x="3525521" y="4978400"/>
            <a:ext cx="1098917" cy="588277"/>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056B214-BEBA-8FC8-A129-DA2537EBB296}"/>
              </a:ext>
            </a:extLst>
          </p:cNvPr>
          <p:cNvCxnSpPr>
            <a:cxnSpLocks/>
          </p:cNvCxnSpPr>
          <p:nvPr/>
        </p:nvCxnSpPr>
        <p:spPr>
          <a:xfrm>
            <a:off x="5840682" y="5045705"/>
            <a:ext cx="0" cy="250080"/>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E9DA822-B35F-979C-D6AE-28FDD4F1AF38}"/>
              </a:ext>
            </a:extLst>
          </p:cNvPr>
          <p:cNvCxnSpPr>
            <a:cxnSpLocks/>
          </p:cNvCxnSpPr>
          <p:nvPr/>
        </p:nvCxnSpPr>
        <p:spPr>
          <a:xfrm flipH="1">
            <a:off x="6924675" y="4955425"/>
            <a:ext cx="1310374" cy="611252"/>
          </a:xfrm>
          <a:prstGeom prst="straightConnector1">
            <a:avLst/>
          </a:prstGeom>
          <a:ln>
            <a:solidFill>
              <a:srgbClr val="0B3D9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669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3D9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CD7069-A4C2-49B8-9AA9-18280AEFFF6F}"/>
              </a:ext>
            </a:extLst>
          </p:cNvPr>
          <p:cNvSpPr>
            <a:spLocks noGrp="1"/>
          </p:cNvSpPr>
          <p:nvPr>
            <p:ph type="ftr" sz="quarter" idx="11"/>
          </p:nvPr>
        </p:nvSpPr>
        <p:spPr/>
        <p:txBody>
          <a:bodyPr/>
          <a:lstStyle/>
          <a:p>
            <a:pPr algn="l"/>
            <a:r>
              <a:rPr lang="en-US" cap="all" dirty="0">
                <a:solidFill>
                  <a:srgbClr val="FFB703"/>
                </a:solidFill>
                <a:latin typeface="-apple-system"/>
              </a:rPr>
              <a:t>Smart Car System Design — University of Tabriz</a:t>
            </a:r>
            <a:endParaRPr lang="fa-IR" cap="all" dirty="0">
              <a:solidFill>
                <a:srgbClr val="FFB703"/>
              </a:solidFill>
              <a:latin typeface="-apple-system"/>
            </a:endParaRPr>
          </a:p>
        </p:txBody>
      </p:sp>
      <p:sp>
        <p:nvSpPr>
          <p:cNvPr id="5" name="Slide Number Placeholder 4">
            <a:extLst>
              <a:ext uri="{FF2B5EF4-FFF2-40B4-BE49-F238E27FC236}">
                <a16:creationId xmlns:a16="http://schemas.microsoft.com/office/drawing/2014/main" id="{E0A80B40-49B8-4B34-A52E-3E6944D2EA49}"/>
              </a:ext>
            </a:extLst>
          </p:cNvPr>
          <p:cNvSpPr>
            <a:spLocks noGrp="1"/>
          </p:cNvSpPr>
          <p:nvPr>
            <p:ph type="sldNum" sz="quarter" idx="12"/>
          </p:nvPr>
        </p:nvSpPr>
        <p:spPr/>
        <p:txBody>
          <a:bodyPr/>
          <a:lstStyle/>
          <a:p>
            <a:fld id="{84E4409A-E250-43DE-AEC0-E766029F0D9A}" type="slidenum">
              <a:rPr lang="fa-IR" cap="all" smtClean="0">
                <a:solidFill>
                  <a:srgbClr val="FFB703"/>
                </a:solidFill>
                <a:latin typeface="-apple-system"/>
              </a:rPr>
              <a:t>5</a:t>
            </a:fld>
            <a:endParaRPr lang="fa-IR" cap="all" dirty="0">
              <a:solidFill>
                <a:srgbClr val="FFB703"/>
              </a:solidFill>
              <a:latin typeface="-apple-system"/>
            </a:endParaRPr>
          </a:p>
        </p:txBody>
      </p:sp>
      <p:sp>
        <p:nvSpPr>
          <p:cNvPr id="6" name="Title 1">
            <a:extLst>
              <a:ext uri="{FF2B5EF4-FFF2-40B4-BE49-F238E27FC236}">
                <a16:creationId xmlns:a16="http://schemas.microsoft.com/office/drawing/2014/main" id="{AEC28B1F-5822-4BE4-81D0-EC40F43F51CD}"/>
              </a:ext>
            </a:extLst>
          </p:cNvPr>
          <p:cNvSpPr txBox="1">
            <a:spLocks/>
          </p:cNvSpPr>
          <p:nvPr/>
        </p:nvSpPr>
        <p:spPr>
          <a:xfrm>
            <a:off x="904875" y="1122363"/>
            <a:ext cx="9848850" cy="2387600"/>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6400" b="1" dirty="0">
                <a:solidFill>
                  <a:schemeClr val="bg1"/>
                </a:solidFill>
              </a:rPr>
              <a:t>Infrastructure, Data &amp; Model Development</a:t>
            </a:r>
          </a:p>
          <a:p>
            <a:pPr algn="l"/>
            <a:br>
              <a:rPr lang="en-US" b="1" dirty="0">
                <a:solidFill>
                  <a:schemeClr val="bg1"/>
                </a:solidFill>
                <a:latin typeface="-apple-system"/>
              </a:rPr>
            </a:br>
            <a:endParaRPr lang="fa-IR" b="1" dirty="0">
              <a:solidFill>
                <a:schemeClr val="bg1"/>
              </a:solidFill>
              <a:latin typeface="-apple-system"/>
            </a:endParaRPr>
          </a:p>
        </p:txBody>
      </p:sp>
      <p:sp>
        <p:nvSpPr>
          <p:cNvPr id="7" name="Subtitle 2">
            <a:extLst>
              <a:ext uri="{FF2B5EF4-FFF2-40B4-BE49-F238E27FC236}">
                <a16:creationId xmlns:a16="http://schemas.microsoft.com/office/drawing/2014/main" id="{B31B158F-F8DA-4C3F-BDB0-8D0E1E77FC14}"/>
              </a:ext>
            </a:extLst>
          </p:cNvPr>
          <p:cNvSpPr txBox="1">
            <a:spLocks/>
          </p:cNvSpPr>
          <p:nvPr/>
        </p:nvSpPr>
        <p:spPr>
          <a:xfrm>
            <a:off x="904875" y="2773363"/>
            <a:ext cx="9848850" cy="41751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cap="all" dirty="0">
                <a:solidFill>
                  <a:srgbClr val="FFB703"/>
                </a:solidFill>
                <a:latin typeface="-apple-system"/>
              </a:rPr>
              <a:t>Phase 1</a:t>
            </a:r>
            <a:endParaRPr lang="fa-IR" sz="2000" b="1" cap="all" dirty="0">
              <a:solidFill>
                <a:srgbClr val="FFB703"/>
              </a:solidFill>
              <a:latin typeface="-apple-system"/>
            </a:endParaRPr>
          </a:p>
        </p:txBody>
      </p:sp>
      <p:sp>
        <p:nvSpPr>
          <p:cNvPr id="8" name="TextBox 7">
            <a:extLst>
              <a:ext uri="{FF2B5EF4-FFF2-40B4-BE49-F238E27FC236}">
                <a16:creationId xmlns:a16="http://schemas.microsoft.com/office/drawing/2014/main" id="{3A7CD8C7-EFFC-44A0-8D1D-0C64780B4CAC}"/>
              </a:ext>
            </a:extLst>
          </p:cNvPr>
          <p:cNvSpPr txBox="1"/>
          <p:nvPr/>
        </p:nvSpPr>
        <p:spPr>
          <a:xfrm>
            <a:off x="904875" y="3509963"/>
            <a:ext cx="10477500" cy="646331"/>
          </a:xfrm>
          <a:prstGeom prst="rect">
            <a:avLst/>
          </a:prstGeom>
          <a:noFill/>
        </p:spPr>
        <p:txBody>
          <a:bodyPr wrap="square">
            <a:spAutoFit/>
          </a:bodyPr>
          <a:lstStyle/>
          <a:p>
            <a:r>
              <a:rPr lang="en-US" dirty="0">
                <a:solidFill>
                  <a:srgbClr val="FFFFFF"/>
                </a:solidFill>
                <a:latin typeface="-apple-system"/>
              </a:rPr>
              <a:t>This phase includes the complete steps of building, training and using a very lightweight machine model for use in a Microcontroller Unit (MCU). The codes are written in a modular manner.</a:t>
            </a:r>
            <a:endParaRPr lang="fa-IR" dirty="0">
              <a:solidFill>
                <a:srgbClr val="FFFFFF"/>
              </a:solidFill>
              <a:latin typeface="-apple-system"/>
            </a:endParaRPr>
          </a:p>
        </p:txBody>
      </p:sp>
    </p:spTree>
    <p:extLst>
      <p:ext uri="{BB962C8B-B14F-4D97-AF65-F5344CB8AC3E}">
        <p14:creationId xmlns:p14="http://schemas.microsoft.com/office/powerpoint/2010/main" val="2954954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8F9DC-9BE4-60EB-C5AE-7164D9DDBF1F}"/>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1D2E8F9-FB35-0168-A939-5DF40DECC6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36595" y="1843125"/>
            <a:ext cx="5517205" cy="3970318"/>
          </a:xfrm>
          <a:prstGeom prst="rect">
            <a:avLst/>
          </a:prstGeom>
          <a:ln>
            <a:noFill/>
          </a:ln>
          <a:effectLst>
            <a:softEdge rad="112500"/>
          </a:effectLst>
        </p:spPr>
      </p:pic>
      <p:sp>
        <p:nvSpPr>
          <p:cNvPr id="4" name="Footer Placeholder 3">
            <a:extLst>
              <a:ext uri="{FF2B5EF4-FFF2-40B4-BE49-F238E27FC236}">
                <a16:creationId xmlns:a16="http://schemas.microsoft.com/office/drawing/2014/main" id="{CA39F3F1-368F-4EC6-A9D7-D525B2FCE094}"/>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10D74DF2-BA8F-6333-AFD2-DDB08C3F38AE}"/>
              </a:ext>
            </a:extLst>
          </p:cNvPr>
          <p:cNvSpPr>
            <a:spLocks noGrp="1"/>
          </p:cNvSpPr>
          <p:nvPr>
            <p:ph type="sldNum" sz="quarter" idx="4"/>
          </p:nvPr>
        </p:nvSpPr>
        <p:spPr/>
        <p:txBody>
          <a:bodyPr/>
          <a:lstStyle/>
          <a:p>
            <a:fld id="{84E4409A-E250-43DE-AEC0-E766029F0D9A}" type="slidenum">
              <a:rPr lang="fa-IR" smtClean="0"/>
              <a:pPr/>
              <a:t>6</a:t>
            </a:fld>
            <a:endParaRPr lang="fa-IR" dirty="0"/>
          </a:p>
        </p:txBody>
      </p:sp>
      <p:sp>
        <p:nvSpPr>
          <p:cNvPr id="6" name="Title 1">
            <a:extLst>
              <a:ext uri="{FF2B5EF4-FFF2-40B4-BE49-F238E27FC236}">
                <a16:creationId xmlns:a16="http://schemas.microsoft.com/office/drawing/2014/main" id="{A0DE3DBE-7524-14E7-28F1-045FFE5C7761}"/>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Development Toolchain &amp; Hardware Platform</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7ABE8CFF-0CFE-68CE-A684-E753FCBF9A29}"/>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AE58020-01A3-9E8E-D21D-96E8235F108B}"/>
              </a:ext>
            </a:extLst>
          </p:cNvPr>
          <p:cNvSpPr txBox="1"/>
          <p:nvPr/>
        </p:nvSpPr>
        <p:spPr>
          <a:xfrm>
            <a:off x="838198" y="1191090"/>
            <a:ext cx="7216304" cy="400110"/>
          </a:xfrm>
          <a:prstGeom prst="rect">
            <a:avLst/>
          </a:prstGeom>
          <a:noFill/>
        </p:spPr>
        <p:txBody>
          <a:bodyPr wrap="square">
            <a:spAutoFit/>
          </a:bodyPr>
          <a:lstStyle/>
          <a:p>
            <a:r>
              <a:rPr lang="en-US" sz="2000" dirty="0">
                <a:solidFill>
                  <a:schemeClr val="tx1">
                    <a:lumMod val="75000"/>
                    <a:lumOff val="25000"/>
                  </a:schemeClr>
                </a:solidFill>
              </a:rPr>
              <a:t>Setting up the environment before writing a single line of AI code</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D3706766-BC0F-6E66-6CCE-59C855D04CFF}"/>
              </a:ext>
            </a:extLst>
          </p:cNvPr>
          <p:cNvSpPr txBox="1"/>
          <p:nvPr/>
        </p:nvSpPr>
        <p:spPr>
          <a:xfrm>
            <a:off x="838198" y="1843125"/>
            <a:ext cx="4998398" cy="3970318"/>
          </a:xfrm>
          <a:prstGeom prst="rect">
            <a:avLst/>
          </a:prstGeom>
          <a:noFill/>
        </p:spPr>
        <p:txBody>
          <a:bodyPr wrap="square">
            <a:spAutoFit/>
          </a:bodyPr>
          <a:lstStyle/>
          <a:p>
            <a:r>
              <a:rPr lang="en-US" dirty="0"/>
              <a:t>Target MCU: STM32F401VET6, LQFP100 package, Arm Cortex‑M4 core — selected for its balance of processing power and </a:t>
            </a:r>
            <a:r>
              <a:rPr lang="en-US" dirty="0" err="1"/>
              <a:t>TinyML</a:t>
            </a:r>
            <a:r>
              <a:rPr lang="en-US" dirty="0"/>
              <a:t>‑class memory (96 KB RAM / 512 KB Flash).System </a:t>
            </a:r>
          </a:p>
          <a:p>
            <a:endParaRPr lang="en-US" dirty="0"/>
          </a:p>
          <a:p>
            <a:r>
              <a:rPr lang="en-US" dirty="0"/>
              <a:t>Clock: Configured via STM32CubeMX at 16 MHz (HSI‑derived SYSCLK), propagated to AHB/APB1/APB2 buses at 16 </a:t>
            </a:r>
          </a:p>
          <a:p>
            <a:endParaRPr lang="en-US" dirty="0"/>
          </a:p>
          <a:p>
            <a:r>
              <a:rPr lang="en-US" dirty="0" err="1"/>
              <a:t>MHz.Toolchain</a:t>
            </a:r>
            <a:r>
              <a:rPr lang="en-US" dirty="0"/>
              <a:t>: STM32CubeMX for pin/clock configuration, Keil MDK‑ARM (</a:t>
            </a:r>
            <a:r>
              <a:rPr lang="en-US" dirty="0" err="1"/>
              <a:t>uVision</a:t>
            </a:r>
            <a:r>
              <a:rPr lang="en-US" dirty="0"/>
              <a:t> 5) for firmware development, Proteus 8 Professional for full hardware‑software co‑simulation (no physical board used).</a:t>
            </a:r>
          </a:p>
        </p:txBody>
      </p:sp>
    </p:spTree>
    <p:extLst>
      <p:ext uri="{BB962C8B-B14F-4D97-AF65-F5344CB8AC3E}">
        <p14:creationId xmlns:p14="http://schemas.microsoft.com/office/powerpoint/2010/main" val="1796417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CDF4-76AD-1136-3349-F6C93FD1F78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90F611F-C2C6-A33B-4196-B9A762519793}"/>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4A1552F4-558C-345C-1442-6533E40D56E1}"/>
              </a:ext>
            </a:extLst>
          </p:cNvPr>
          <p:cNvSpPr>
            <a:spLocks noGrp="1"/>
          </p:cNvSpPr>
          <p:nvPr>
            <p:ph type="sldNum" sz="quarter" idx="4"/>
          </p:nvPr>
        </p:nvSpPr>
        <p:spPr/>
        <p:txBody>
          <a:bodyPr/>
          <a:lstStyle/>
          <a:p>
            <a:fld id="{84E4409A-E250-43DE-AEC0-E766029F0D9A}" type="slidenum">
              <a:rPr lang="fa-IR" smtClean="0"/>
              <a:pPr/>
              <a:t>7</a:t>
            </a:fld>
            <a:endParaRPr lang="fa-IR" dirty="0"/>
          </a:p>
        </p:txBody>
      </p:sp>
      <p:sp>
        <p:nvSpPr>
          <p:cNvPr id="6" name="Title 1">
            <a:extLst>
              <a:ext uri="{FF2B5EF4-FFF2-40B4-BE49-F238E27FC236}">
                <a16:creationId xmlns:a16="http://schemas.microsoft.com/office/drawing/2014/main" id="{A0AE9292-319A-864D-6F62-78CEF9F0E241}"/>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Synthetic Dataset Generation</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738464D0-D5BB-B16E-DEA5-CB8FDC87F1AA}"/>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E251FCE-6AB7-DCF7-B065-93479BAE6A47}"/>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No real-world dataset available — so one was generated programmatically</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CADB3E42-C3AD-F221-2565-BD5677EFC549}"/>
              </a:ext>
            </a:extLst>
          </p:cNvPr>
          <p:cNvSpPr txBox="1"/>
          <p:nvPr/>
        </p:nvSpPr>
        <p:spPr>
          <a:xfrm>
            <a:off x="838198" y="1843125"/>
            <a:ext cx="4998398" cy="3693319"/>
          </a:xfrm>
          <a:prstGeom prst="rect">
            <a:avLst/>
          </a:prstGeom>
          <a:noFill/>
        </p:spPr>
        <p:txBody>
          <a:bodyPr wrap="square">
            <a:spAutoFit/>
          </a:bodyPr>
          <a:lstStyle/>
          <a:p>
            <a:r>
              <a:rPr lang="en-US" b="1" dirty="0"/>
              <a:t>Why synthetic:</a:t>
            </a:r>
            <a:r>
              <a:rPr lang="en-US" dirty="0"/>
              <a:t> No camera or real obstacle dataset was available for this MCU‑only pipeline, so </a:t>
            </a:r>
          </a:p>
          <a:p>
            <a:r>
              <a:rPr lang="en-US" dirty="0"/>
              <a:t>generate_data.py procedurally builds the training set. </a:t>
            </a:r>
          </a:p>
          <a:p>
            <a:endParaRPr lang="en-US" b="1" dirty="0"/>
          </a:p>
          <a:p>
            <a:r>
              <a:rPr lang="en-US" b="1" dirty="0"/>
              <a:t>Class 0 — </a:t>
            </a:r>
            <a:r>
              <a:rPr lang="en-US" b="1" dirty="0" err="1"/>
              <a:t>no_obstacle</a:t>
            </a:r>
            <a:r>
              <a:rPr lang="en-US" b="1" dirty="0"/>
              <a:t>:</a:t>
            </a:r>
            <a:r>
              <a:rPr lang="en-US" dirty="0"/>
              <a:t> Background noise only. </a:t>
            </a:r>
          </a:p>
          <a:p>
            <a:endParaRPr lang="en-US" b="1" dirty="0"/>
          </a:p>
          <a:p>
            <a:r>
              <a:rPr lang="en-US" b="1" dirty="0"/>
              <a:t>Class 1 — obstacle:</a:t>
            </a:r>
            <a:r>
              <a:rPr lang="en-US" dirty="0"/>
              <a:t> Same background noise plus a randomly placed dark square simulating an obstacle. </a:t>
            </a:r>
          </a:p>
          <a:p>
            <a:endParaRPr lang="en-US" b="1" dirty="0"/>
          </a:p>
          <a:p>
            <a:r>
              <a:rPr lang="en-US" b="1" dirty="0"/>
              <a:t>Volume:</a:t>
            </a:r>
            <a:r>
              <a:rPr lang="en-US" dirty="0"/>
              <a:t> 200 synthetic 96×96 grayscale images per class (400 total).</a:t>
            </a:r>
          </a:p>
        </p:txBody>
      </p:sp>
      <p:pic>
        <p:nvPicPr>
          <p:cNvPr id="2" name="Picture 1">
            <a:extLst>
              <a:ext uri="{FF2B5EF4-FFF2-40B4-BE49-F238E27FC236}">
                <a16:creationId xmlns:a16="http://schemas.microsoft.com/office/drawing/2014/main" id="{998FEE9A-305D-43A4-F1C4-DA7DF8F068AE}"/>
              </a:ext>
            </a:extLst>
          </p:cNvPr>
          <p:cNvPicPr>
            <a:picLocks noChangeAspect="1"/>
          </p:cNvPicPr>
          <p:nvPr/>
        </p:nvPicPr>
        <p:blipFill>
          <a:blip r:embed="rId3"/>
          <a:stretch>
            <a:fillRect/>
          </a:stretch>
        </p:blipFill>
        <p:spPr>
          <a:xfrm>
            <a:off x="6096000" y="1843125"/>
            <a:ext cx="5257800" cy="1990725"/>
          </a:xfrm>
          <a:prstGeom prst="rect">
            <a:avLst/>
          </a:prstGeom>
        </p:spPr>
      </p:pic>
      <p:pic>
        <p:nvPicPr>
          <p:cNvPr id="9" name="Picture 8">
            <a:extLst>
              <a:ext uri="{FF2B5EF4-FFF2-40B4-BE49-F238E27FC236}">
                <a16:creationId xmlns:a16="http://schemas.microsoft.com/office/drawing/2014/main" id="{0E44AC68-9CE7-8BC7-0987-6864ABA937F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3833850"/>
            <a:ext cx="5257799" cy="1982470"/>
          </a:xfrm>
          <a:prstGeom prst="rect">
            <a:avLst/>
          </a:prstGeom>
          <a:noFill/>
          <a:ln>
            <a:noFill/>
          </a:ln>
        </p:spPr>
      </p:pic>
    </p:spTree>
    <p:extLst>
      <p:ext uri="{BB962C8B-B14F-4D97-AF65-F5344CB8AC3E}">
        <p14:creationId xmlns:p14="http://schemas.microsoft.com/office/powerpoint/2010/main" val="3240047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50A0-4191-5E76-3C98-98CF45ADA51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43CFFF1-9CCC-3E4C-C6AA-CA7018F34C72}"/>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7E1EF50D-7CD4-0E7E-084C-ED32585EFD47}"/>
              </a:ext>
            </a:extLst>
          </p:cNvPr>
          <p:cNvSpPr>
            <a:spLocks noGrp="1"/>
          </p:cNvSpPr>
          <p:nvPr>
            <p:ph type="sldNum" sz="quarter" idx="4"/>
          </p:nvPr>
        </p:nvSpPr>
        <p:spPr/>
        <p:txBody>
          <a:bodyPr/>
          <a:lstStyle/>
          <a:p>
            <a:fld id="{84E4409A-E250-43DE-AEC0-E766029F0D9A}" type="slidenum">
              <a:rPr lang="fa-IR" smtClean="0"/>
              <a:pPr/>
              <a:t>8</a:t>
            </a:fld>
            <a:endParaRPr lang="fa-IR" dirty="0"/>
          </a:p>
        </p:txBody>
      </p:sp>
      <p:sp>
        <p:nvSpPr>
          <p:cNvPr id="6" name="Title 1">
            <a:extLst>
              <a:ext uri="{FF2B5EF4-FFF2-40B4-BE49-F238E27FC236}">
                <a16:creationId xmlns:a16="http://schemas.microsoft.com/office/drawing/2014/main" id="{6AAFBA08-66FE-7781-1B1C-1350AE155EB1}"/>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Data Preprocessing &amp; Loading Pipeline</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900845E5-3AB2-E12C-ED8D-23C6543DD15C}"/>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7644343-1EDB-1EAB-9416-9E36F8701338}"/>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Preparing images for a memory-constrained MCU</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5FE49692-ED3D-89D9-90B9-42E2AC746210}"/>
              </a:ext>
            </a:extLst>
          </p:cNvPr>
          <p:cNvSpPr txBox="1"/>
          <p:nvPr/>
        </p:nvSpPr>
        <p:spPr>
          <a:xfrm>
            <a:off x="838198" y="1843125"/>
            <a:ext cx="4998398" cy="2585323"/>
          </a:xfrm>
          <a:prstGeom prst="rect">
            <a:avLst/>
          </a:prstGeom>
          <a:noFill/>
        </p:spPr>
        <p:txBody>
          <a:bodyPr wrap="square">
            <a:spAutoFit/>
          </a:bodyPr>
          <a:lstStyle/>
          <a:p>
            <a:r>
              <a:rPr lang="en-US" b="1" dirty="0"/>
              <a:t>Custom Dataset Class:</a:t>
            </a:r>
            <a:r>
              <a:rPr lang="en-US" dirty="0"/>
              <a:t> </a:t>
            </a:r>
            <a:r>
              <a:rPr lang="en-US" dirty="0" err="1"/>
              <a:t>TinyObstacleDataset</a:t>
            </a:r>
            <a:r>
              <a:rPr lang="en-US" dirty="0"/>
              <a:t> in data_loader.py reads all generated images via PIL. </a:t>
            </a:r>
          </a:p>
          <a:p>
            <a:endParaRPr lang="en-US" b="1" dirty="0"/>
          </a:p>
          <a:p>
            <a:r>
              <a:rPr lang="en-US" b="1" dirty="0"/>
              <a:t>Resize:</a:t>
            </a:r>
            <a:r>
              <a:rPr lang="en-US" dirty="0"/>
              <a:t> All images normalized to a fixed 96×96 resolution to match the model's expected input. </a:t>
            </a:r>
          </a:p>
          <a:p>
            <a:endParaRPr lang="en-US" b="1" dirty="0"/>
          </a:p>
          <a:p>
            <a:r>
              <a:rPr lang="en-US" b="1" dirty="0"/>
              <a:t>Grayscale Conversion:</a:t>
            </a:r>
            <a:r>
              <a:rPr lang="en-US" dirty="0"/>
              <a:t> Images converted to single-channel grayscale — cuts RAM footprint 3× versus RGB and speeds up inference.</a:t>
            </a:r>
          </a:p>
        </p:txBody>
      </p:sp>
      <p:pic>
        <p:nvPicPr>
          <p:cNvPr id="10" name="Picture 9">
            <a:extLst>
              <a:ext uri="{FF2B5EF4-FFF2-40B4-BE49-F238E27FC236}">
                <a16:creationId xmlns:a16="http://schemas.microsoft.com/office/drawing/2014/main" id="{8452FACF-0D2A-BC4C-C666-4B6E9FFD9B2C}"/>
              </a:ext>
            </a:extLst>
          </p:cNvPr>
          <p:cNvPicPr>
            <a:picLocks noChangeAspect="1"/>
          </p:cNvPicPr>
          <p:nvPr/>
        </p:nvPicPr>
        <p:blipFill>
          <a:blip r:embed="rId3"/>
          <a:stretch>
            <a:fillRect/>
          </a:stretch>
        </p:blipFill>
        <p:spPr>
          <a:xfrm>
            <a:off x="6096000" y="1976077"/>
            <a:ext cx="4998399" cy="34714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70852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D5B07-E789-08EF-4F85-E48F7012679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F50628E-71E5-7D7B-CDDB-3DAEA6DEF3F9}"/>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75D9375F-4361-752F-DCED-CA0C8C50E585}"/>
              </a:ext>
            </a:extLst>
          </p:cNvPr>
          <p:cNvSpPr>
            <a:spLocks noGrp="1"/>
          </p:cNvSpPr>
          <p:nvPr>
            <p:ph type="sldNum" sz="quarter" idx="4"/>
          </p:nvPr>
        </p:nvSpPr>
        <p:spPr/>
        <p:txBody>
          <a:bodyPr/>
          <a:lstStyle/>
          <a:p>
            <a:fld id="{84E4409A-E250-43DE-AEC0-E766029F0D9A}" type="slidenum">
              <a:rPr lang="fa-IR" smtClean="0"/>
              <a:pPr/>
              <a:t>9</a:t>
            </a:fld>
            <a:endParaRPr lang="fa-IR" dirty="0"/>
          </a:p>
        </p:txBody>
      </p:sp>
      <p:sp>
        <p:nvSpPr>
          <p:cNvPr id="6" name="Title 1">
            <a:extLst>
              <a:ext uri="{FF2B5EF4-FFF2-40B4-BE49-F238E27FC236}">
                <a16:creationId xmlns:a16="http://schemas.microsoft.com/office/drawing/2014/main" id="{A77172DD-20E9-2819-4CF6-B483EFFA6E22}"/>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CNN Architecture — </a:t>
            </a:r>
            <a:r>
              <a:rPr lang="en-US" sz="3600" dirty="0" err="1">
                <a:solidFill>
                  <a:schemeClr val="accent2">
                    <a:lumMod val="50000"/>
                  </a:schemeClr>
                </a:solidFill>
              </a:rPr>
              <a:t>TinyObstacleNetMCU</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3E2B84D5-86FE-C245-AE68-BABE24EEF184}"/>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914FFD7-648B-B1F1-1D9C-F994D6FE3BA5}"/>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A custom, MCU-optimized convolutional network</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61E1EC2D-6331-28EF-3105-96FDE11AC5AE}"/>
              </a:ext>
            </a:extLst>
          </p:cNvPr>
          <p:cNvSpPr txBox="1"/>
          <p:nvPr/>
        </p:nvSpPr>
        <p:spPr>
          <a:xfrm>
            <a:off x="838197" y="2056402"/>
            <a:ext cx="10387521" cy="2554545"/>
          </a:xfrm>
          <a:prstGeom prst="rect">
            <a:avLst/>
          </a:prstGeom>
          <a:noFill/>
        </p:spPr>
        <p:txBody>
          <a:bodyPr wrap="square">
            <a:spAutoFit/>
          </a:bodyPr>
          <a:lstStyle/>
          <a:p>
            <a:r>
              <a:rPr lang="en-US" sz="1600" b="1" dirty="0"/>
              <a:t>Design Goal:</a:t>
            </a:r>
            <a:r>
              <a:rPr lang="en-US" sz="1600" dirty="0"/>
              <a:t> A binary classifier small enough to fit STM32F401VE's memory and compute budget. </a:t>
            </a:r>
          </a:p>
          <a:p>
            <a:endParaRPr lang="en-US" sz="1600" b="1" dirty="0"/>
          </a:p>
          <a:p>
            <a:endParaRPr lang="en-US" sz="1600" b="1" dirty="0"/>
          </a:p>
          <a:p>
            <a:r>
              <a:rPr lang="en-US" sz="1600" b="1" dirty="0"/>
              <a:t>Key Technique — </a:t>
            </a:r>
            <a:r>
              <a:rPr lang="en-US" sz="1600" b="1" dirty="0" err="1"/>
              <a:t>Depthwise</a:t>
            </a:r>
            <a:r>
              <a:rPr lang="en-US" sz="1600" b="1" dirty="0"/>
              <a:t> Separable Convolution (DSC):</a:t>
            </a:r>
            <a:r>
              <a:rPr lang="en-US" sz="1600" dirty="0"/>
              <a:t> Splits a standard convolution into a </a:t>
            </a:r>
            <a:r>
              <a:rPr lang="en-US" sz="1600" dirty="0" err="1"/>
              <a:t>depthwise</a:t>
            </a:r>
            <a:r>
              <a:rPr lang="en-US" sz="1600" dirty="0"/>
              <a:t> pass + a 1×1 pointwise pass, drastically cutting parameter count and MACC operations versus a standard Conv2d. </a:t>
            </a:r>
          </a:p>
          <a:p>
            <a:endParaRPr lang="en-US" sz="1600" b="1" dirty="0"/>
          </a:p>
          <a:p>
            <a:endParaRPr lang="en-US" sz="1600" b="1" dirty="0"/>
          </a:p>
          <a:p>
            <a:r>
              <a:rPr lang="en-US" sz="1600" b="1" dirty="0"/>
              <a:t>Output Head:</a:t>
            </a:r>
            <a:r>
              <a:rPr lang="en-US" sz="1600" dirty="0"/>
              <a:t> Global Average Pooling → Fully Connected (16→1) → Sigmoid, producing an obstacle probability between 0 and 1. </a:t>
            </a:r>
          </a:p>
          <a:p>
            <a:endParaRPr lang="en-US" sz="1600" b="1" dirty="0"/>
          </a:p>
        </p:txBody>
      </p:sp>
    </p:spTree>
    <p:extLst>
      <p:ext uri="{BB962C8B-B14F-4D97-AF65-F5344CB8AC3E}">
        <p14:creationId xmlns:p14="http://schemas.microsoft.com/office/powerpoint/2010/main" val="583583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75D1-2C48-FEFE-ECD7-7006954FCB9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12C88F-D293-25CF-DB7F-4803B025BCA4}"/>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68737952-F16C-7E4D-3FCF-77D88BE3A5F6}"/>
              </a:ext>
            </a:extLst>
          </p:cNvPr>
          <p:cNvSpPr>
            <a:spLocks noGrp="1"/>
          </p:cNvSpPr>
          <p:nvPr>
            <p:ph type="sldNum" sz="quarter" idx="4"/>
          </p:nvPr>
        </p:nvSpPr>
        <p:spPr/>
        <p:txBody>
          <a:bodyPr/>
          <a:lstStyle/>
          <a:p>
            <a:fld id="{84E4409A-E250-43DE-AEC0-E766029F0D9A}" type="slidenum">
              <a:rPr lang="fa-IR" smtClean="0"/>
              <a:pPr/>
              <a:t>10</a:t>
            </a:fld>
            <a:endParaRPr lang="fa-IR" dirty="0"/>
          </a:p>
        </p:txBody>
      </p:sp>
      <p:pic>
        <p:nvPicPr>
          <p:cNvPr id="11" name="Picture 10">
            <a:extLst>
              <a:ext uri="{FF2B5EF4-FFF2-40B4-BE49-F238E27FC236}">
                <a16:creationId xmlns:a16="http://schemas.microsoft.com/office/drawing/2014/main" id="{EED879C6-F800-EA0B-2B19-10479DED0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75364"/>
            <a:ext cx="12192000" cy="4756826"/>
          </a:xfrm>
          <a:prstGeom prst="rect">
            <a:avLst/>
          </a:prstGeom>
        </p:spPr>
      </p:pic>
      <p:sp>
        <p:nvSpPr>
          <p:cNvPr id="13" name="TextBox 12">
            <a:extLst>
              <a:ext uri="{FF2B5EF4-FFF2-40B4-BE49-F238E27FC236}">
                <a16:creationId xmlns:a16="http://schemas.microsoft.com/office/drawing/2014/main" id="{8692152B-2A27-13A6-ABAD-80743379AC53}"/>
              </a:ext>
            </a:extLst>
          </p:cNvPr>
          <p:cNvSpPr txBox="1"/>
          <p:nvPr/>
        </p:nvSpPr>
        <p:spPr>
          <a:xfrm>
            <a:off x="902239" y="4547415"/>
            <a:ext cx="10387521" cy="584775"/>
          </a:xfrm>
          <a:prstGeom prst="rect">
            <a:avLst/>
          </a:prstGeom>
          <a:noFill/>
        </p:spPr>
        <p:txBody>
          <a:bodyPr wrap="square">
            <a:spAutoFit/>
          </a:bodyPr>
          <a:lstStyle/>
          <a:p>
            <a:r>
              <a:rPr lang="en-US" sz="1600" b="1" dirty="0"/>
              <a:t>Design note:</a:t>
            </a:r>
            <a:r>
              <a:rPr lang="en-US" sz="1600" dirty="0"/>
              <a:t> The number of filters in the first layer (8) is a manually chosen hyperparameter, not something derived from a formula — only the spatial output size of each layer follows the convolution/pooling formulas.</a:t>
            </a:r>
          </a:p>
        </p:txBody>
      </p:sp>
    </p:spTree>
    <p:extLst>
      <p:ext uri="{BB962C8B-B14F-4D97-AF65-F5344CB8AC3E}">
        <p14:creationId xmlns:p14="http://schemas.microsoft.com/office/powerpoint/2010/main" val="1887557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485E-8684-1800-0926-2680B7CD623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FB17175-8BF4-BFE3-D6FA-6A9181C30BEA}"/>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6DA679FA-D6D9-3884-DD07-F7B5C6FCD6EA}"/>
              </a:ext>
            </a:extLst>
          </p:cNvPr>
          <p:cNvSpPr>
            <a:spLocks noGrp="1"/>
          </p:cNvSpPr>
          <p:nvPr>
            <p:ph type="sldNum" sz="quarter" idx="4"/>
          </p:nvPr>
        </p:nvSpPr>
        <p:spPr/>
        <p:txBody>
          <a:bodyPr/>
          <a:lstStyle/>
          <a:p>
            <a:fld id="{84E4409A-E250-43DE-AEC0-E766029F0D9A}" type="slidenum">
              <a:rPr lang="fa-IR" smtClean="0"/>
              <a:pPr/>
              <a:t>11</a:t>
            </a:fld>
            <a:endParaRPr lang="fa-IR" dirty="0"/>
          </a:p>
        </p:txBody>
      </p:sp>
      <p:sp>
        <p:nvSpPr>
          <p:cNvPr id="6" name="Title 1">
            <a:extLst>
              <a:ext uri="{FF2B5EF4-FFF2-40B4-BE49-F238E27FC236}">
                <a16:creationId xmlns:a16="http://schemas.microsoft.com/office/drawing/2014/main" id="{7C875DC0-3A78-0BFC-71F2-C8F8B1C9AC8F}"/>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Layer-by-Layer Output Dimensions</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7ADDBF00-281A-4446-5C0E-CDE4CE2ED0DC}"/>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FD26F1F-ABF7-AA11-DD21-4BCBBF32C0D3}"/>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Tracing a 96×96 input through the network</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18317259-F2BF-8219-AA91-E2D91A14C6A6}"/>
              </a:ext>
            </a:extLst>
          </p:cNvPr>
          <p:cNvSpPr txBox="1"/>
          <p:nvPr/>
        </p:nvSpPr>
        <p:spPr>
          <a:xfrm>
            <a:off x="794422" y="5578318"/>
            <a:ext cx="8179342" cy="338554"/>
          </a:xfrm>
          <a:prstGeom prst="rect">
            <a:avLst/>
          </a:prstGeom>
          <a:noFill/>
        </p:spPr>
        <p:txBody>
          <a:bodyPr wrap="square">
            <a:spAutoFit/>
          </a:bodyPr>
          <a:lstStyle/>
          <a:p>
            <a:r>
              <a:rPr lang="en-US" sz="1600" dirty="0"/>
              <a:t>Use the table itself as the slide's main visual — no external image is needed here.</a:t>
            </a:r>
          </a:p>
        </p:txBody>
      </p:sp>
      <p:pic>
        <p:nvPicPr>
          <p:cNvPr id="9" name="Picture 8">
            <a:extLst>
              <a:ext uri="{FF2B5EF4-FFF2-40B4-BE49-F238E27FC236}">
                <a16:creationId xmlns:a16="http://schemas.microsoft.com/office/drawing/2014/main" id="{688097AF-9970-6D17-B43D-B424B2810510}"/>
              </a:ext>
            </a:extLst>
          </p:cNvPr>
          <p:cNvPicPr>
            <a:picLocks noChangeAspect="1"/>
          </p:cNvPicPr>
          <p:nvPr/>
        </p:nvPicPr>
        <p:blipFill>
          <a:blip r:embed="rId3"/>
          <a:stretch>
            <a:fillRect/>
          </a:stretch>
        </p:blipFill>
        <p:spPr>
          <a:xfrm>
            <a:off x="895351" y="1894484"/>
            <a:ext cx="8034640" cy="3480038"/>
          </a:xfrm>
          <a:prstGeom prst="rect">
            <a:avLst/>
          </a:prstGeom>
        </p:spPr>
      </p:pic>
    </p:spTree>
    <p:extLst>
      <p:ext uri="{BB962C8B-B14F-4D97-AF65-F5344CB8AC3E}">
        <p14:creationId xmlns:p14="http://schemas.microsoft.com/office/powerpoint/2010/main" val="2258844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AAE64-E0DF-5D89-B4E2-0D5A251A3C0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4FB69E6-B251-D6A3-381C-46AC6A3A150E}"/>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5C0D243E-5993-3E7A-5D01-CBB78ACBDDD5}"/>
              </a:ext>
            </a:extLst>
          </p:cNvPr>
          <p:cNvSpPr>
            <a:spLocks noGrp="1"/>
          </p:cNvSpPr>
          <p:nvPr>
            <p:ph type="sldNum" sz="quarter" idx="4"/>
          </p:nvPr>
        </p:nvSpPr>
        <p:spPr/>
        <p:txBody>
          <a:bodyPr/>
          <a:lstStyle/>
          <a:p>
            <a:fld id="{84E4409A-E250-43DE-AEC0-E766029F0D9A}" type="slidenum">
              <a:rPr lang="fa-IR" smtClean="0"/>
              <a:pPr/>
              <a:t>12</a:t>
            </a:fld>
            <a:endParaRPr lang="fa-IR" dirty="0"/>
          </a:p>
        </p:txBody>
      </p:sp>
      <p:sp>
        <p:nvSpPr>
          <p:cNvPr id="6" name="Title 1">
            <a:extLst>
              <a:ext uri="{FF2B5EF4-FFF2-40B4-BE49-F238E27FC236}">
                <a16:creationId xmlns:a16="http://schemas.microsoft.com/office/drawing/2014/main" id="{1CDB895A-55F9-30DD-4348-9CFFBED86792}"/>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Model Training &amp; Export</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F454EDD4-7ECA-FA1B-78D9-84CB77DDB965}"/>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4CAA9AE-D4ED-833E-3408-B3A8325993DD}"/>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From </a:t>
            </a:r>
            <a:r>
              <a:rPr lang="en-US" sz="2000" dirty="0" err="1">
                <a:solidFill>
                  <a:schemeClr val="tx1">
                    <a:lumMod val="75000"/>
                    <a:lumOff val="25000"/>
                  </a:schemeClr>
                </a:solidFill>
              </a:rPr>
              <a:t>PyTorch</a:t>
            </a:r>
            <a:r>
              <a:rPr lang="en-US" sz="2000" dirty="0">
                <a:solidFill>
                  <a:schemeClr val="tx1">
                    <a:lumMod val="75000"/>
                    <a:lumOff val="25000"/>
                  </a:schemeClr>
                </a:solidFill>
              </a:rPr>
              <a:t> weights to a hardware-portable format</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46466AD2-9FAD-F5F9-C522-4EBB720DD4D8}"/>
              </a:ext>
            </a:extLst>
          </p:cNvPr>
          <p:cNvSpPr txBox="1"/>
          <p:nvPr/>
        </p:nvSpPr>
        <p:spPr>
          <a:xfrm>
            <a:off x="838197" y="1942613"/>
            <a:ext cx="5543148" cy="4093428"/>
          </a:xfrm>
          <a:prstGeom prst="rect">
            <a:avLst/>
          </a:prstGeom>
          <a:noFill/>
        </p:spPr>
        <p:txBody>
          <a:bodyPr wrap="square">
            <a:spAutoFit/>
          </a:bodyPr>
          <a:lstStyle/>
          <a:p>
            <a:r>
              <a:rPr lang="en-US" sz="1600" b="1" dirty="0"/>
              <a:t>Split:</a:t>
            </a:r>
            <a:r>
              <a:rPr lang="en-US" sz="1600" dirty="0"/>
              <a:t> 80/20 random train/validation split. </a:t>
            </a:r>
            <a:endParaRPr lang="fa-IR" sz="1600" dirty="0"/>
          </a:p>
          <a:p>
            <a:endParaRPr lang="fa-IR" sz="1600" b="1" dirty="0"/>
          </a:p>
          <a:p>
            <a:r>
              <a:rPr lang="en-US" sz="1600" b="1" dirty="0"/>
              <a:t>Loss &amp; Optimizer:</a:t>
            </a:r>
            <a:r>
              <a:rPr lang="en-US" sz="1600" dirty="0"/>
              <a:t> Binary Cross-Entropy (BCE) loss with the Adam optimizer. </a:t>
            </a:r>
            <a:endParaRPr lang="fa-IR" sz="1600" dirty="0"/>
          </a:p>
          <a:p>
            <a:endParaRPr lang="fa-IR" sz="1600" b="1" dirty="0"/>
          </a:p>
          <a:p>
            <a:r>
              <a:rPr lang="en-US" sz="1600" b="1" dirty="0"/>
              <a:t>Schedule:</a:t>
            </a:r>
            <a:r>
              <a:rPr lang="en-US" sz="1600" dirty="0"/>
              <a:t> 10 training epochs; the model checkpoint is saved whenever validation loss improves. </a:t>
            </a:r>
            <a:endParaRPr lang="fa-IR" sz="1600" dirty="0"/>
          </a:p>
          <a:p>
            <a:endParaRPr lang="fa-IR" sz="1600" b="1" dirty="0"/>
          </a:p>
          <a:p>
            <a:r>
              <a:rPr lang="en-US" sz="1600" b="1" dirty="0"/>
              <a:t>Result:</a:t>
            </a:r>
            <a:r>
              <a:rPr lang="en-US" sz="1600" dirty="0"/>
              <a:t> Training accuracy reached 100% and validation accuracy reached 100% by epoch 8–10, with validation loss converging to 0.4497. </a:t>
            </a:r>
            <a:endParaRPr lang="fa-IR" sz="1600" dirty="0"/>
          </a:p>
          <a:p>
            <a:endParaRPr lang="fa-IR" sz="1600" b="1" dirty="0"/>
          </a:p>
          <a:p>
            <a:r>
              <a:rPr lang="en-US" sz="1600" b="1" dirty="0"/>
              <a:t>Export:</a:t>
            </a:r>
            <a:r>
              <a:rPr lang="en-US" sz="1600" dirty="0"/>
              <a:t> The best checkpoint (</a:t>
            </a:r>
            <a:r>
              <a:rPr lang="en-US" dirty="0" err="1"/>
              <a:t>best_tiny_model.pth</a:t>
            </a:r>
            <a:r>
              <a:rPr lang="en-US" sz="1600" dirty="0"/>
              <a:t>) is exported to the ONNX (Open Neural Network Exchange) format via </a:t>
            </a:r>
            <a:r>
              <a:rPr lang="en-US" dirty="0"/>
              <a:t>export_onnx.py</a:t>
            </a:r>
            <a:r>
              <a:rPr lang="en-US" sz="1600" dirty="0"/>
              <a:t>, decoupling the model from </a:t>
            </a:r>
            <a:r>
              <a:rPr lang="en-US" sz="1600" dirty="0" err="1"/>
              <a:t>PyTorch</a:t>
            </a:r>
            <a:r>
              <a:rPr lang="en-US" sz="1600" dirty="0"/>
              <a:t> so it can be translated to C by hardware vendor tools.</a:t>
            </a:r>
          </a:p>
        </p:txBody>
      </p:sp>
      <p:pic>
        <p:nvPicPr>
          <p:cNvPr id="2" name="Picture 1">
            <a:extLst>
              <a:ext uri="{FF2B5EF4-FFF2-40B4-BE49-F238E27FC236}">
                <a16:creationId xmlns:a16="http://schemas.microsoft.com/office/drawing/2014/main" id="{4FB4DB86-7BDF-A9C0-A562-528D3CF79B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1345" y="1797107"/>
            <a:ext cx="4972455" cy="42389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02984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3D9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CD7069-A4C2-49B8-9AA9-18280AEFFF6F}"/>
              </a:ext>
            </a:extLst>
          </p:cNvPr>
          <p:cNvSpPr>
            <a:spLocks noGrp="1"/>
          </p:cNvSpPr>
          <p:nvPr>
            <p:ph type="ftr" sz="quarter" idx="11"/>
          </p:nvPr>
        </p:nvSpPr>
        <p:spPr/>
        <p:txBody>
          <a:bodyPr/>
          <a:lstStyle/>
          <a:p>
            <a:pPr algn="l"/>
            <a:r>
              <a:rPr lang="en-US" cap="all" dirty="0">
                <a:solidFill>
                  <a:srgbClr val="FFB703"/>
                </a:solidFill>
                <a:latin typeface="-apple-system"/>
              </a:rPr>
              <a:t>Smart Car System Design — University of Tabriz</a:t>
            </a:r>
            <a:endParaRPr lang="fa-IR" cap="all" dirty="0">
              <a:solidFill>
                <a:srgbClr val="FFB703"/>
              </a:solidFill>
              <a:latin typeface="-apple-system"/>
            </a:endParaRPr>
          </a:p>
        </p:txBody>
      </p:sp>
      <p:sp>
        <p:nvSpPr>
          <p:cNvPr id="5" name="Slide Number Placeholder 4">
            <a:extLst>
              <a:ext uri="{FF2B5EF4-FFF2-40B4-BE49-F238E27FC236}">
                <a16:creationId xmlns:a16="http://schemas.microsoft.com/office/drawing/2014/main" id="{E0A80B40-49B8-4B34-A52E-3E6944D2EA49}"/>
              </a:ext>
            </a:extLst>
          </p:cNvPr>
          <p:cNvSpPr>
            <a:spLocks noGrp="1"/>
          </p:cNvSpPr>
          <p:nvPr>
            <p:ph type="sldNum" sz="quarter" idx="12"/>
          </p:nvPr>
        </p:nvSpPr>
        <p:spPr/>
        <p:txBody>
          <a:bodyPr/>
          <a:lstStyle/>
          <a:p>
            <a:fld id="{84E4409A-E250-43DE-AEC0-E766029F0D9A}" type="slidenum">
              <a:rPr lang="fa-IR" cap="all" smtClean="0">
                <a:solidFill>
                  <a:srgbClr val="FFB703"/>
                </a:solidFill>
                <a:latin typeface="-apple-system"/>
              </a:rPr>
              <a:t>13</a:t>
            </a:fld>
            <a:endParaRPr lang="fa-IR" cap="all" dirty="0">
              <a:solidFill>
                <a:srgbClr val="FFB703"/>
              </a:solidFill>
              <a:latin typeface="-apple-system"/>
            </a:endParaRPr>
          </a:p>
        </p:txBody>
      </p:sp>
      <p:sp>
        <p:nvSpPr>
          <p:cNvPr id="6" name="Title 1">
            <a:extLst>
              <a:ext uri="{FF2B5EF4-FFF2-40B4-BE49-F238E27FC236}">
                <a16:creationId xmlns:a16="http://schemas.microsoft.com/office/drawing/2014/main" id="{AEC28B1F-5822-4BE4-81D0-EC40F43F51CD}"/>
              </a:ext>
            </a:extLst>
          </p:cNvPr>
          <p:cNvSpPr txBox="1">
            <a:spLocks/>
          </p:cNvSpPr>
          <p:nvPr/>
        </p:nvSpPr>
        <p:spPr>
          <a:xfrm>
            <a:off x="904875" y="1117599"/>
            <a:ext cx="9848850" cy="223043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b="1" dirty="0" err="1">
                <a:solidFill>
                  <a:schemeClr val="bg1"/>
                </a:solidFill>
              </a:rPr>
              <a:t>TinyML</a:t>
            </a:r>
            <a:r>
              <a:rPr lang="en-US" sz="4400" b="1" dirty="0">
                <a:solidFill>
                  <a:schemeClr val="bg1"/>
                </a:solidFill>
              </a:rPr>
              <a:t> Deployment &amp; Decision Logic</a:t>
            </a:r>
          </a:p>
          <a:p>
            <a:pPr algn="l"/>
            <a:r>
              <a:rPr lang="en-US" sz="4400" b="1" dirty="0">
                <a:solidFill>
                  <a:schemeClr val="bg1"/>
                </a:solidFill>
              </a:rPr>
              <a:t>Software development</a:t>
            </a:r>
            <a:br>
              <a:rPr lang="en-US" sz="4000" b="1" dirty="0">
                <a:solidFill>
                  <a:schemeClr val="bg1"/>
                </a:solidFill>
                <a:latin typeface="-apple-system"/>
              </a:rPr>
            </a:br>
            <a:endParaRPr lang="fa-IR" sz="4000" b="1" dirty="0">
              <a:solidFill>
                <a:schemeClr val="bg1"/>
              </a:solidFill>
              <a:latin typeface="-apple-system"/>
            </a:endParaRPr>
          </a:p>
        </p:txBody>
      </p:sp>
      <p:sp>
        <p:nvSpPr>
          <p:cNvPr id="7" name="Subtitle 2">
            <a:extLst>
              <a:ext uri="{FF2B5EF4-FFF2-40B4-BE49-F238E27FC236}">
                <a16:creationId xmlns:a16="http://schemas.microsoft.com/office/drawing/2014/main" id="{B31B158F-F8DA-4C3F-BDB0-8D0E1E77FC14}"/>
              </a:ext>
            </a:extLst>
          </p:cNvPr>
          <p:cNvSpPr txBox="1">
            <a:spLocks/>
          </p:cNvSpPr>
          <p:nvPr/>
        </p:nvSpPr>
        <p:spPr>
          <a:xfrm>
            <a:off x="904875" y="2773363"/>
            <a:ext cx="9848850" cy="41751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cap="all" dirty="0">
                <a:solidFill>
                  <a:srgbClr val="FFB703"/>
                </a:solidFill>
                <a:latin typeface="-apple-system"/>
              </a:rPr>
              <a:t>Phase 2</a:t>
            </a:r>
            <a:endParaRPr lang="fa-IR" sz="2000" b="1" cap="all" dirty="0">
              <a:solidFill>
                <a:srgbClr val="FFB703"/>
              </a:solidFill>
              <a:latin typeface="-apple-system"/>
            </a:endParaRPr>
          </a:p>
        </p:txBody>
      </p:sp>
      <p:sp>
        <p:nvSpPr>
          <p:cNvPr id="8" name="TextBox 7">
            <a:extLst>
              <a:ext uri="{FF2B5EF4-FFF2-40B4-BE49-F238E27FC236}">
                <a16:creationId xmlns:a16="http://schemas.microsoft.com/office/drawing/2014/main" id="{3A7CD8C7-EFFC-44A0-8D1D-0C64780B4CAC}"/>
              </a:ext>
            </a:extLst>
          </p:cNvPr>
          <p:cNvSpPr txBox="1"/>
          <p:nvPr/>
        </p:nvSpPr>
        <p:spPr>
          <a:xfrm>
            <a:off x="904875" y="3509963"/>
            <a:ext cx="10477500" cy="1754326"/>
          </a:xfrm>
          <a:prstGeom prst="rect">
            <a:avLst/>
          </a:prstGeom>
          <a:noFill/>
        </p:spPr>
        <p:txBody>
          <a:bodyPr wrap="square">
            <a:spAutoFit/>
          </a:bodyPr>
          <a:lstStyle/>
          <a:p>
            <a:r>
              <a:rPr lang="en-US" dirty="0">
                <a:solidFill>
                  <a:srgbClr val="FFFFFF"/>
                </a:solidFill>
                <a:latin typeface="-apple-system"/>
              </a:rPr>
              <a:t>In the second phase, the written code is structured and various modules, including the sensor simulator, the AI ​​Inference Engine, the Risk Calculator, and the Finite State Machine (FSM), are integrated together (Integration). This phase forms the core logic of the program.</a:t>
            </a:r>
            <a:br>
              <a:rPr lang="en-US" dirty="0">
                <a:solidFill>
                  <a:srgbClr val="FFFFFF"/>
                </a:solidFill>
                <a:latin typeface="-apple-system"/>
              </a:rPr>
            </a:br>
            <a:r>
              <a:rPr lang="en-US" dirty="0">
                <a:solidFill>
                  <a:srgbClr val="FFFFFF"/>
                </a:solidFill>
                <a:latin typeface="-apple-system"/>
              </a:rPr>
              <a:t>And we will transfer the training model from the previous phase to a real hardware (microcontroller). This phase includes configuring the hardware, deploying the model using the manufacturer's development tools, setting up the display to show visual output, and setting up the serial port for debugging.</a:t>
            </a:r>
            <a:endParaRPr lang="fa-IR" dirty="0">
              <a:solidFill>
                <a:srgbClr val="FFFFFF"/>
              </a:solidFill>
              <a:latin typeface="-apple-system"/>
            </a:endParaRPr>
          </a:p>
        </p:txBody>
      </p:sp>
    </p:spTree>
    <p:extLst>
      <p:ext uri="{BB962C8B-B14F-4D97-AF65-F5344CB8AC3E}">
        <p14:creationId xmlns:p14="http://schemas.microsoft.com/office/powerpoint/2010/main" val="2490222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2CB8C-7E51-B7C2-7E00-2C023E019BE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561396F-3FF0-CDE7-51F9-46DDD55BC118}"/>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ADF9F649-5691-7551-5326-50F7238AE306}"/>
              </a:ext>
            </a:extLst>
          </p:cNvPr>
          <p:cNvSpPr>
            <a:spLocks noGrp="1"/>
          </p:cNvSpPr>
          <p:nvPr>
            <p:ph type="sldNum" sz="quarter" idx="4"/>
          </p:nvPr>
        </p:nvSpPr>
        <p:spPr/>
        <p:txBody>
          <a:bodyPr/>
          <a:lstStyle/>
          <a:p>
            <a:fld id="{84E4409A-E250-43DE-AEC0-E766029F0D9A}" type="slidenum">
              <a:rPr lang="fa-IR" smtClean="0"/>
              <a:pPr/>
              <a:t>14</a:t>
            </a:fld>
            <a:endParaRPr lang="fa-IR" dirty="0"/>
          </a:p>
        </p:txBody>
      </p:sp>
      <p:sp>
        <p:nvSpPr>
          <p:cNvPr id="6" name="Title 1">
            <a:extLst>
              <a:ext uri="{FF2B5EF4-FFF2-40B4-BE49-F238E27FC236}">
                <a16:creationId xmlns:a16="http://schemas.microsoft.com/office/drawing/2014/main" id="{843E70D3-AFEF-B3F7-3B73-165BA3AA6ADB}"/>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Model Deployment via STM32Cube.AI</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4B487336-3D81-016A-FB11-B6D5FBD5ADC8}"/>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59FA00-7BA8-5B86-A391-CEE4C2EC6CEF}"/>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Translating ONNX into optimized embedded C</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C6FF050B-5E09-FDC2-2407-50B2CAE277B1}"/>
              </a:ext>
            </a:extLst>
          </p:cNvPr>
          <p:cNvSpPr txBox="1"/>
          <p:nvPr/>
        </p:nvSpPr>
        <p:spPr>
          <a:xfrm>
            <a:off x="838197" y="2078800"/>
            <a:ext cx="10270790" cy="2308324"/>
          </a:xfrm>
          <a:prstGeom prst="rect">
            <a:avLst/>
          </a:prstGeom>
          <a:noFill/>
        </p:spPr>
        <p:txBody>
          <a:bodyPr wrap="square">
            <a:spAutoFit/>
          </a:bodyPr>
          <a:lstStyle/>
          <a:p>
            <a:r>
              <a:rPr lang="en-US" sz="1600" b="1" dirty="0"/>
              <a:t>Import:</a:t>
            </a:r>
            <a:r>
              <a:rPr lang="en-US" sz="1600" dirty="0"/>
              <a:t> The ONNX model is imported into X‑CUBE‑AI, which converts the Conv2D / Pooling / Dense graph into C code backed by CMSIS‑NN kernels. </a:t>
            </a:r>
          </a:p>
          <a:p>
            <a:endParaRPr lang="en-US" sz="1600" b="1" dirty="0"/>
          </a:p>
          <a:p>
            <a:endParaRPr lang="en-US" sz="1600" b="1" dirty="0"/>
          </a:p>
          <a:p>
            <a:r>
              <a:rPr lang="en-US" sz="1600" b="1" dirty="0"/>
              <a:t>Memory Footprint:</a:t>
            </a:r>
            <a:r>
              <a:rPr lang="en-US" sz="1600" dirty="0"/>
              <a:t> 40.22 KiB RAM (activations) + 3.74 KiB (library) ≈ 43.96 KiB total RAM; 23.19 KiB Flash for weights. </a:t>
            </a:r>
          </a:p>
          <a:p>
            <a:endParaRPr lang="en-US" sz="1600" b="1" dirty="0"/>
          </a:p>
          <a:p>
            <a:endParaRPr lang="en-US" sz="1600" b="1" dirty="0"/>
          </a:p>
          <a:p>
            <a:r>
              <a:rPr lang="en-US" sz="1600" b="1" dirty="0"/>
              <a:t>Compute Cost:</a:t>
            </a:r>
            <a:r>
              <a:rPr lang="en-US" sz="1600" dirty="0"/>
              <a:t> ≈296,155 MACC (Multiply‑Accumulate) operations per inference — confirmed by Cube.AI as feasible for this MCU.</a:t>
            </a:r>
          </a:p>
        </p:txBody>
      </p:sp>
      <p:pic>
        <p:nvPicPr>
          <p:cNvPr id="9" name="Picture 8">
            <a:extLst>
              <a:ext uri="{FF2B5EF4-FFF2-40B4-BE49-F238E27FC236}">
                <a16:creationId xmlns:a16="http://schemas.microsoft.com/office/drawing/2014/main" id="{6F3C2FDB-6162-2DB2-3F1C-71E062C681F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198" y="4494179"/>
            <a:ext cx="10270790" cy="159533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27596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97AEF-D719-EE60-4934-0ED9E99AAD5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7EAC3D3-018F-E50E-316D-25843263940B}"/>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CB64C2E7-6017-CE06-967A-B4EC8CB558C7}"/>
              </a:ext>
            </a:extLst>
          </p:cNvPr>
          <p:cNvSpPr>
            <a:spLocks noGrp="1"/>
          </p:cNvSpPr>
          <p:nvPr>
            <p:ph type="sldNum" sz="quarter" idx="4"/>
          </p:nvPr>
        </p:nvSpPr>
        <p:spPr/>
        <p:txBody>
          <a:bodyPr/>
          <a:lstStyle/>
          <a:p>
            <a:fld id="{84E4409A-E250-43DE-AEC0-E766029F0D9A}" type="slidenum">
              <a:rPr lang="fa-IR" smtClean="0"/>
              <a:pPr/>
              <a:t>15</a:t>
            </a:fld>
            <a:endParaRPr lang="fa-IR" dirty="0"/>
          </a:p>
        </p:txBody>
      </p:sp>
      <p:sp>
        <p:nvSpPr>
          <p:cNvPr id="6" name="Title 1">
            <a:extLst>
              <a:ext uri="{FF2B5EF4-FFF2-40B4-BE49-F238E27FC236}">
                <a16:creationId xmlns:a16="http://schemas.microsoft.com/office/drawing/2014/main" id="{1B3B6F6C-FDD2-F97A-BB11-32FB5E579434}"/>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Software Architecture &amp; Modularization</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347DB317-49A1-E9B4-C2B7-1647C37F1582}"/>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847C3FA-FEA6-86B8-FB8E-CFD78D3E2D00}"/>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Keeping </a:t>
            </a:r>
            <a:r>
              <a:rPr lang="en-US" dirty="0" err="1">
                <a:solidFill>
                  <a:schemeClr val="tx1">
                    <a:lumMod val="75000"/>
                    <a:lumOff val="25000"/>
                  </a:schemeClr>
                </a:solidFill>
              </a:rPr>
              <a:t>main.c</a:t>
            </a:r>
            <a:r>
              <a:rPr lang="en-US" sz="2000" dirty="0">
                <a:solidFill>
                  <a:schemeClr val="tx1">
                    <a:lumMod val="75000"/>
                    <a:lumOff val="25000"/>
                  </a:schemeClr>
                </a:solidFill>
              </a:rPr>
              <a:t> clean through modular design</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D3494F47-A746-C6BE-E0F4-0F61E2CD0930}"/>
              </a:ext>
            </a:extLst>
          </p:cNvPr>
          <p:cNvSpPr txBox="1"/>
          <p:nvPr/>
        </p:nvSpPr>
        <p:spPr>
          <a:xfrm>
            <a:off x="838197" y="2078800"/>
            <a:ext cx="4114800" cy="3231654"/>
          </a:xfrm>
          <a:prstGeom prst="rect">
            <a:avLst/>
          </a:prstGeom>
          <a:noFill/>
        </p:spPr>
        <p:txBody>
          <a:bodyPr wrap="square">
            <a:spAutoFit/>
          </a:bodyPr>
          <a:lstStyle/>
          <a:p>
            <a:r>
              <a:rPr lang="en-US" sz="1600" b="1" dirty="0"/>
              <a:t>Principle:</a:t>
            </a:r>
            <a:r>
              <a:rPr lang="en-US" sz="1600" dirty="0"/>
              <a:t> Rather than crowding logic into </a:t>
            </a:r>
            <a:r>
              <a:rPr lang="en-US" dirty="0" err="1"/>
              <a:t>main.c</a:t>
            </a:r>
            <a:r>
              <a:rPr lang="en-US" sz="1600" dirty="0"/>
              <a:t>, functionality is split into a dedicated </a:t>
            </a:r>
            <a:r>
              <a:rPr lang="en-US" dirty="0"/>
              <a:t>app/</a:t>
            </a:r>
            <a:r>
              <a:rPr lang="en-US" sz="1600" dirty="0"/>
              <a:t> folder. </a:t>
            </a:r>
          </a:p>
          <a:p>
            <a:endParaRPr lang="en-US" sz="1600" b="1" dirty="0"/>
          </a:p>
          <a:p>
            <a:r>
              <a:rPr lang="en-US" sz="1600" b="1" dirty="0"/>
              <a:t>Modules:</a:t>
            </a:r>
            <a:r>
              <a:rPr lang="en-US" sz="1600" dirty="0"/>
              <a:t> </a:t>
            </a:r>
            <a:r>
              <a:rPr lang="en-US" dirty="0" err="1"/>
              <a:t>sensor_sim.c</a:t>
            </a:r>
            <a:r>
              <a:rPr lang="en-US" sz="1600" dirty="0"/>
              <a:t> (frame generation), </a:t>
            </a:r>
            <a:r>
              <a:rPr lang="en-US" dirty="0" err="1"/>
              <a:t>infer_engine.c</a:t>
            </a:r>
            <a:r>
              <a:rPr lang="en-US" sz="1600" dirty="0"/>
              <a:t> (AI wrapper), </a:t>
            </a:r>
            <a:r>
              <a:rPr lang="en-US" dirty="0" err="1"/>
              <a:t>risk_calc.c</a:t>
            </a:r>
            <a:r>
              <a:rPr lang="en-US" sz="1600" dirty="0"/>
              <a:t> (TTC), </a:t>
            </a:r>
            <a:r>
              <a:rPr lang="en-US" dirty="0" err="1"/>
              <a:t>fsm_controller.c</a:t>
            </a:r>
            <a:r>
              <a:rPr lang="en-US" sz="1600" dirty="0"/>
              <a:t> (state machine), </a:t>
            </a:r>
            <a:r>
              <a:rPr lang="en-US" dirty="0" err="1"/>
              <a:t>preprocess.c</a:t>
            </a:r>
            <a:r>
              <a:rPr lang="en-US" sz="1600" dirty="0"/>
              <a:t> (normalization). </a:t>
            </a:r>
          </a:p>
          <a:p>
            <a:endParaRPr lang="en-US" sz="1600" b="1" dirty="0"/>
          </a:p>
          <a:p>
            <a:r>
              <a:rPr lang="en-US" sz="1600" b="1" dirty="0"/>
              <a:t>Benefit:</a:t>
            </a:r>
            <a:r>
              <a:rPr lang="en-US" sz="1600" dirty="0"/>
              <a:t> Significantly improves code readability and long-term maintainability; grouped in Keil via </a:t>
            </a:r>
            <a:r>
              <a:rPr lang="en-US" sz="1600" i="1" dirty="0"/>
              <a:t>Add Group</a:t>
            </a:r>
            <a:r>
              <a:rPr lang="en-US" sz="1600" dirty="0"/>
              <a:t>.</a:t>
            </a:r>
          </a:p>
        </p:txBody>
      </p:sp>
      <p:pic>
        <p:nvPicPr>
          <p:cNvPr id="2" name="Picture 1">
            <a:extLst>
              <a:ext uri="{FF2B5EF4-FFF2-40B4-BE49-F238E27FC236}">
                <a16:creationId xmlns:a16="http://schemas.microsoft.com/office/drawing/2014/main" id="{1ADF9861-A797-A031-75BA-5F76A4A8B6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26119" y="1843125"/>
            <a:ext cx="5125669" cy="32316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8800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E39D-7E37-648F-3DA3-621F17971F6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2E59B9-5A7C-CE72-94FB-8519A4CB41F0}"/>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16357E18-E58D-1507-66ED-7DB18DCAAADF}"/>
              </a:ext>
            </a:extLst>
          </p:cNvPr>
          <p:cNvSpPr>
            <a:spLocks noGrp="1"/>
          </p:cNvSpPr>
          <p:nvPr>
            <p:ph type="sldNum" sz="quarter" idx="4"/>
          </p:nvPr>
        </p:nvSpPr>
        <p:spPr/>
        <p:txBody>
          <a:bodyPr/>
          <a:lstStyle/>
          <a:p>
            <a:fld id="{84E4409A-E250-43DE-AEC0-E766029F0D9A}" type="slidenum">
              <a:rPr lang="fa-IR" smtClean="0"/>
              <a:pPr/>
              <a:t>16</a:t>
            </a:fld>
            <a:endParaRPr lang="fa-IR" dirty="0"/>
          </a:p>
        </p:txBody>
      </p:sp>
      <p:sp>
        <p:nvSpPr>
          <p:cNvPr id="6" name="Title 1">
            <a:extLst>
              <a:ext uri="{FF2B5EF4-FFF2-40B4-BE49-F238E27FC236}">
                <a16:creationId xmlns:a16="http://schemas.microsoft.com/office/drawing/2014/main" id="{8E09D639-E028-1EF8-4CFB-3C68B5B8314A}"/>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Memory Configuration (Stack &amp; Heap)</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8E3DB2A3-1DBD-A711-A362-705826DD043F}"/>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E13480A-E030-A6E7-250C-DB908169D609}"/>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Keeping </a:t>
            </a:r>
            <a:r>
              <a:rPr lang="en-US" dirty="0" err="1">
                <a:solidFill>
                  <a:schemeClr val="tx1">
                    <a:lumMod val="75000"/>
                    <a:lumOff val="25000"/>
                  </a:schemeClr>
                </a:solidFill>
              </a:rPr>
              <a:t>main.c</a:t>
            </a:r>
            <a:r>
              <a:rPr lang="en-US" sz="2000" dirty="0">
                <a:solidFill>
                  <a:schemeClr val="tx1">
                    <a:lumMod val="75000"/>
                    <a:lumOff val="25000"/>
                  </a:schemeClr>
                </a:solidFill>
              </a:rPr>
              <a:t> clean through modular design</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9B48ED8A-93E7-DB97-534D-912672C85030}"/>
              </a:ext>
            </a:extLst>
          </p:cNvPr>
          <p:cNvSpPr txBox="1"/>
          <p:nvPr/>
        </p:nvSpPr>
        <p:spPr>
          <a:xfrm>
            <a:off x="838196" y="2078800"/>
            <a:ext cx="10368067" cy="2092881"/>
          </a:xfrm>
          <a:prstGeom prst="rect">
            <a:avLst/>
          </a:prstGeom>
          <a:noFill/>
        </p:spPr>
        <p:txBody>
          <a:bodyPr wrap="square">
            <a:spAutoFit/>
          </a:bodyPr>
          <a:lstStyle/>
          <a:p>
            <a:r>
              <a:rPr lang="en-US" sz="1600" b="1" dirty="0"/>
              <a:t>Why it matters:</a:t>
            </a:r>
            <a:r>
              <a:rPr lang="en-US" sz="1600" dirty="0"/>
              <a:t> ML activation buffers and temporary variables need generous RAM; functions like </a:t>
            </a:r>
            <a:r>
              <a:rPr lang="en-US" dirty="0" err="1"/>
              <a:t>snprintf</a:t>
            </a:r>
            <a:r>
              <a:rPr lang="en-US" sz="1600" dirty="0"/>
              <a:t> also require adequate stack space. </a:t>
            </a:r>
          </a:p>
          <a:p>
            <a:endParaRPr lang="en-US" sz="1600" b="1" dirty="0"/>
          </a:p>
          <a:p>
            <a:r>
              <a:rPr lang="en-US" sz="1600" b="1" dirty="0"/>
              <a:t>Stack Size:</a:t>
            </a:r>
            <a:r>
              <a:rPr lang="en-US" sz="1600" dirty="0"/>
              <a:t> 0x2000 (8 KB) </a:t>
            </a:r>
          </a:p>
          <a:p>
            <a:endParaRPr lang="en-US" sz="1600" b="1" dirty="0"/>
          </a:p>
          <a:p>
            <a:r>
              <a:rPr lang="en-US" sz="1600" b="1" dirty="0"/>
              <a:t>Heap Size:</a:t>
            </a:r>
            <a:r>
              <a:rPr lang="en-US" sz="1600" dirty="0"/>
              <a:t> 0x4000 (16 KB) </a:t>
            </a:r>
          </a:p>
          <a:p>
            <a:endParaRPr lang="en-US" sz="1600" b="1" dirty="0"/>
          </a:p>
          <a:p>
            <a:r>
              <a:rPr lang="en-US" sz="1600" b="1" dirty="0"/>
              <a:t>Result:</a:t>
            </a:r>
            <a:r>
              <a:rPr lang="en-US" sz="1600" dirty="0"/>
              <a:t> Sized specifically to avoid stack/heap overflow errors during inference and UART logging.</a:t>
            </a:r>
          </a:p>
        </p:txBody>
      </p:sp>
      <p:pic>
        <p:nvPicPr>
          <p:cNvPr id="9" name="Picture 8">
            <a:extLst>
              <a:ext uri="{FF2B5EF4-FFF2-40B4-BE49-F238E27FC236}">
                <a16:creationId xmlns:a16="http://schemas.microsoft.com/office/drawing/2014/main" id="{D71D0DE0-DA29-969B-4BD9-B239A2A1ED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70125" y="4362172"/>
            <a:ext cx="7851750" cy="1464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3882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910BB-72A5-0025-A2CA-838F8AC70BC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1A53A87-EDEC-D341-D480-7A7728CF7B3C}"/>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E8EB2EF8-6A1E-90F6-BFD1-76BBB610C57A}"/>
              </a:ext>
            </a:extLst>
          </p:cNvPr>
          <p:cNvSpPr>
            <a:spLocks noGrp="1"/>
          </p:cNvSpPr>
          <p:nvPr>
            <p:ph type="sldNum" sz="quarter" idx="4"/>
          </p:nvPr>
        </p:nvSpPr>
        <p:spPr/>
        <p:txBody>
          <a:bodyPr/>
          <a:lstStyle/>
          <a:p>
            <a:fld id="{84E4409A-E250-43DE-AEC0-E766029F0D9A}" type="slidenum">
              <a:rPr lang="fa-IR" smtClean="0"/>
              <a:pPr/>
              <a:t>17</a:t>
            </a:fld>
            <a:endParaRPr lang="fa-IR" dirty="0"/>
          </a:p>
        </p:txBody>
      </p:sp>
      <p:sp>
        <p:nvSpPr>
          <p:cNvPr id="6" name="Title 1">
            <a:extLst>
              <a:ext uri="{FF2B5EF4-FFF2-40B4-BE49-F238E27FC236}">
                <a16:creationId xmlns:a16="http://schemas.microsoft.com/office/drawing/2014/main" id="{C9F8EC15-986B-90FF-3CD7-3B9F95AE8759}"/>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Peripheral Interfaces: SPI Display &amp; UART Debug</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7CA240DC-C710-F027-7C46-EAC20D0259A7}"/>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FB762D5-21D7-F769-57C9-3CE58D086897}"/>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Getting visual and textual feedback out of the MCU</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9E15A727-DA2B-4012-25A1-2741A89E6C87}"/>
              </a:ext>
            </a:extLst>
          </p:cNvPr>
          <p:cNvSpPr txBox="1"/>
          <p:nvPr/>
        </p:nvSpPr>
        <p:spPr>
          <a:xfrm>
            <a:off x="911966" y="2203135"/>
            <a:ext cx="10368067" cy="2308324"/>
          </a:xfrm>
          <a:prstGeom prst="rect">
            <a:avLst/>
          </a:prstGeom>
          <a:noFill/>
        </p:spPr>
        <p:txBody>
          <a:bodyPr wrap="square">
            <a:spAutoFit/>
          </a:bodyPr>
          <a:lstStyle/>
          <a:p>
            <a:r>
              <a:rPr lang="en-US" sz="1600" b="1" dirty="0"/>
              <a:t>LCD (ILI9341) over SPI1:</a:t>
            </a:r>
            <a:r>
              <a:rPr lang="en-US" sz="1600" dirty="0"/>
              <a:t> 8‑bit, MSB‑first, </a:t>
            </a:r>
            <a:r>
              <a:rPr lang="en-US" sz="1600" dirty="0" err="1"/>
              <a:t>Prescaler</a:t>
            </a:r>
            <a:r>
              <a:rPr lang="en-US" sz="1600" dirty="0"/>
              <a:t> 2, CPOL Low / CPHA 1st Edge. PA5→SCK, PA7→MOSI, PA4→CS, PA6→DC, PA8→RST. </a:t>
            </a:r>
          </a:p>
          <a:p>
            <a:endParaRPr lang="en-US" sz="1600" b="1" dirty="0"/>
          </a:p>
          <a:p>
            <a:endParaRPr lang="en-US" sz="1600" b="1" dirty="0"/>
          </a:p>
          <a:p>
            <a:r>
              <a:rPr lang="en-US" sz="1600" b="1" dirty="0"/>
              <a:t>UART Debug (USART2):</a:t>
            </a:r>
            <a:r>
              <a:rPr lang="en-US" sz="1600" dirty="0"/>
              <a:t> 9600 baud, 8 data bits, no parity, 1 stop bit. PA2→TX, PA3→RX, connected to Proteus's Virtual Terminal. </a:t>
            </a:r>
          </a:p>
          <a:p>
            <a:endParaRPr lang="en-US" sz="1600" b="1" dirty="0"/>
          </a:p>
          <a:p>
            <a:endParaRPr lang="en-US" sz="1600" b="1" dirty="0"/>
          </a:p>
          <a:p>
            <a:r>
              <a:rPr lang="en-US" sz="1600" b="1" dirty="0"/>
              <a:t>Interrupt-driven RX:</a:t>
            </a:r>
            <a:r>
              <a:rPr lang="en-US" sz="1600" dirty="0"/>
              <a:t> USART2 interrupt registered in NVIC so incoming data doesn't block the main loop.</a:t>
            </a:r>
          </a:p>
        </p:txBody>
      </p:sp>
    </p:spTree>
    <p:extLst>
      <p:ext uri="{BB962C8B-B14F-4D97-AF65-F5344CB8AC3E}">
        <p14:creationId xmlns:p14="http://schemas.microsoft.com/office/powerpoint/2010/main" val="2094646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A2B7-1C63-20AE-F4FC-69C65412B52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CA4A266-D3DA-C8E3-1004-A7C26CAF7121}"/>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656C445A-635D-3231-B3DC-C886B6BB6577}"/>
              </a:ext>
            </a:extLst>
          </p:cNvPr>
          <p:cNvSpPr>
            <a:spLocks noGrp="1"/>
          </p:cNvSpPr>
          <p:nvPr>
            <p:ph type="sldNum" sz="quarter" idx="4"/>
          </p:nvPr>
        </p:nvSpPr>
        <p:spPr/>
        <p:txBody>
          <a:bodyPr/>
          <a:lstStyle/>
          <a:p>
            <a:fld id="{84E4409A-E250-43DE-AEC0-E766029F0D9A}" type="slidenum">
              <a:rPr lang="fa-IR" smtClean="0"/>
              <a:pPr/>
              <a:t>18</a:t>
            </a:fld>
            <a:endParaRPr lang="fa-IR" dirty="0"/>
          </a:p>
        </p:txBody>
      </p:sp>
      <p:sp>
        <p:nvSpPr>
          <p:cNvPr id="6" name="Title 1">
            <a:extLst>
              <a:ext uri="{FF2B5EF4-FFF2-40B4-BE49-F238E27FC236}">
                <a16:creationId xmlns:a16="http://schemas.microsoft.com/office/drawing/2014/main" id="{486DAD48-8158-3849-D411-205DA81B0BC3}"/>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AI Inference Engine &amp; Preprocessing Pipeline</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6B594733-9737-D5A1-2E73-3D4F62F49DB1}"/>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885217-B928-FBB8-389B-51A78035C15D}"/>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From raw pixels to a probability score</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CF5CD335-3388-FECE-29B8-BD562AE83E11}"/>
              </a:ext>
            </a:extLst>
          </p:cNvPr>
          <p:cNvSpPr txBox="1"/>
          <p:nvPr/>
        </p:nvSpPr>
        <p:spPr>
          <a:xfrm>
            <a:off x="911966" y="2203135"/>
            <a:ext cx="10368067" cy="2123658"/>
          </a:xfrm>
          <a:prstGeom prst="rect">
            <a:avLst/>
          </a:prstGeom>
          <a:noFill/>
        </p:spPr>
        <p:txBody>
          <a:bodyPr wrap="square">
            <a:spAutoFit/>
          </a:bodyPr>
          <a:lstStyle/>
          <a:p>
            <a:r>
              <a:rPr lang="en-US" sz="1600" b="1" dirty="0"/>
              <a:t>Test Input Strategy:</a:t>
            </a:r>
            <a:r>
              <a:rPr lang="en-US" sz="1600" dirty="0"/>
              <a:t> Since a direct camera‑to‑MCU link isn't feasible in Proteus, 5 sample 96×96 images are converted to hexadecimal C arrays (via a Python script) and stored in Flash as test vectors. </a:t>
            </a:r>
          </a:p>
          <a:p>
            <a:endParaRPr lang="en-US" sz="1600" b="1" dirty="0"/>
          </a:p>
          <a:p>
            <a:r>
              <a:rPr lang="en-US" sz="1600" b="1" dirty="0"/>
              <a:t>Normalization:</a:t>
            </a:r>
            <a:r>
              <a:rPr lang="en-US" sz="1600" dirty="0"/>
              <a:t> </a:t>
            </a:r>
            <a:r>
              <a:rPr lang="en-US" dirty="0" err="1"/>
              <a:t>Preprocess_NormalizeFloat</a:t>
            </a:r>
            <a:r>
              <a:rPr lang="en-US" sz="1600" dirty="0"/>
              <a:t> converts raw pixel bytes to float values before inference. </a:t>
            </a:r>
          </a:p>
          <a:p>
            <a:endParaRPr lang="en-US" sz="1600" b="1" dirty="0"/>
          </a:p>
          <a:p>
            <a:r>
              <a:rPr lang="en-US" sz="1600" b="1" dirty="0"/>
              <a:t>Inference Call:</a:t>
            </a:r>
            <a:r>
              <a:rPr lang="en-US" sz="1600" dirty="0"/>
              <a:t> </a:t>
            </a:r>
            <a:r>
              <a:rPr lang="en-US" dirty="0" err="1"/>
              <a:t>infer_engine.c</a:t>
            </a:r>
            <a:r>
              <a:rPr lang="en-US" sz="1600" dirty="0"/>
              <a:t> invokes the Cube.AI‑generated </a:t>
            </a:r>
            <a:r>
              <a:rPr lang="en-US" dirty="0" err="1"/>
              <a:t>ai_ob_model_run</a:t>
            </a:r>
            <a:r>
              <a:rPr lang="en-US" dirty="0"/>
              <a:t>()</a:t>
            </a:r>
            <a:r>
              <a:rPr lang="en-US" sz="1600" dirty="0"/>
              <a:t> function. </a:t>
            </a:r>
          </a:p>
          <a:p>
            <a:endParaRPr lang="en-US" sz="1600" b="1" dirty="0"/>
          </a:p>
          <a:p>
            <a:r>
              <a:rPr lang="en-US" sz="1600" b="1" dirty="0"/>
              <a:t>Output:</a:t>
            </a:r>
            <a:r>
              <a:rPr lang="en-US" sz="1600" dirty="0"/>
              <a:t> A float between 0–1, multiplied by 100 to report an obstacle probability percentage.</a:t>
            </a:r>
          </a:p>
        </p:txBody>
      </p:sp>
      <p:pic>
        <p:nvPicPr>
          <p:cNvPr id="2" name="Picture 1">
            <a:extLst>
              <a:ext uri="{FF2B5EF4-FFF2-40B4-BE49-F238E27FC236}">
                <a16:creationId xmlns:a16="http://schemas.microsoft.com/office/drawing/2014/main" id="{04BC8028-EF16-2090-8887-D543354B764D}"/>
              </a:ext>
            </a:extLst>
          </p:cNvPr>
          <p:cNvPicPr>
            <a:picLocks noChangeAspect="1"/>
          </p:cNvPicPr>
          <p:nvPr/>
        </p:nvPicPr>
        <p:blipFill>
          <a:blip r:embed="rId3"/>
          <a:stretch>
            <a:fillRect/>
          </a:stretch>
        </p:blipFill>
        <p:spPr>
          <a:xfrm>
            <a:off x="1355495" y="4572000"/>
            <a:ext cx="9481008" cy="109491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77733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A79D7-F47B-9944-AA99-241BF1DABBD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9567E8-578A-1765-F8CF-C1071477D1F1}"/>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7C502F62-4DD3-1F19-EC58-E745C6D044AC}"/>
              </a:ext>
            </a:extLst>
          </p:cNvPr>
          <p:cNvSpPr>
            <a:spLocks noGrp="1"/>
          </p:cNvSpPr>
          <p:nvPr>
            <p:ph type="sldNum" sz="quarter" idx="4"/>
          </p:nvPr>
        </p:nvSpPr>
        <p:spPr/>
        <p:txBody>
          <a:bodyPr/>
          <a:lstStyle/>
          <a:p>
            <a:fld id="{84E4409A-E250-43DE-AEC0-E766029F0D9A}" type="slidenum">
              <a:rPr lang="fa-IR" smtClean="0"/>
              <a:pPr/>
              <a:t>19</a:t>
            </a:fld>
            <a:endParaRPr lang="fa-IR" dirty="0"/>
          </a:p>
        </p:txBody>
      </p:sp>
      <p:sp>
        <p:nvSpPr>
          <p:cNvPr id="6" name="Title 1">
            <a:extLst>
              <a:ext uri="{FF2B5EF4-FFF2-40B4-BE49-F238E27FC236}">
                <a16:creationId xmlns:a16="http://schemas.microsoft.com/office/drawing/2014/main" id="{DB4E6A28-9F65-C3F0-50A1-0398BBAC0E2A}"/>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Risk Assessment (TTC) &amp; FSM Decision Logic</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DA8FD709-9B8C-BC72-A365-DF4065C4CCDF}"/>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8974A66-64C9-2052-895D-25D806AC3484}"/>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Turning a probability into a driving decision</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E1C9170F-7237-3B9A-7859-7BB5D451858F}"/>
              </a:ext>
            </a:extLst>
          </p:cNvPr>
          <p:cNvSpPr txBox="1"/>
          <p:nvPr/>
        </p:nvSpPr>
        <p:spPr>
          <a:xfrm>
            <a:off x="911966" y="2203135"/>
            <a:ext cx="10368067" cy="2677656"/>
          </a:xfrm>
          <a:prstGeom prst="rect">
            <a:avLst/>
          </a:prstGeom>
          <a:noFill/>
        </p:spPr>
        <p:txBody>
          <a:bodyPr wrap="square">
            <a:spAutoFit/>
          </a:bodyPr>
          <a:lstStyle/>
          <a:p>
            <a:r>
              <a:rPr lang="en-US" sz="1600" b="1" dirty="0"/>
              <a:t>TTC Formula:</a:t>
            </a:r>
            <a:r>
              <a:rPr lang="en-US" sz="1600" dirty="0"/>
              <a:t> </a:t>
            </a:r>
            <a:r>
              <a:rPr lang="en-US" dirty="0"/>
              <a:t>TTC = (Distance × 1000) / Speed</a:t>
            </a:r>
            <a:r>
              <a:rPr lang="en-US" sz="1600" dirty="0"/>
              <a:t>, computed in </a:t>
            </a:r>
            <a:r>
              <a:rPr lang="en-US" dirty="0" err="1"/>
              <a:t>risk_calc.c</a:t>
            </a:r>
            <a:r>
              <a:rPr lang="en-US" sz="1600" dirty="0"/>
              <a:t> from simulated distance/speed values.</a:t>
            </a:r>
          </a:p>
          <a:p>
            <a:endParaRPr lang="en-US" sz="1600" dirty="0"/>
          </a:p>
          <a:p>
            <a:endParaRPr lang="en-US" sz="1600" dirty="0"/>
          </a:p>
          <a:p>
            <a:r>
              <a:rPr lang="en-US" sz="1600" b="1" dirty="0"/>
              <a:t>Four States:</a:t>
            </a:r>
            <a:r>
              <a:rPr lang="en-US" sz="1600" dirty="0"/>
              <a:t> </a:t>
            </a:r>
            <a:r>
              <a:rPr lang="en-US" dirty="0"/>
              <a:t>NORMAL → WARNING → BRAKE → SAFE_STOP</a:t>
            </a:r>
            <a:r>
              <a:rPr lang="en-US" sz="1600" dirty="0"/>
              <a:t>, implemented in </a:t>
            </a:r>
            <a:r>
              <a:rPr lang="en-US" dirty="0" err="1"/>
              <a:t>fsm_controller.c</a:t>
            </a:r>
            <a:r>
              <a:rPr lang="en-US" sz="1600" dirty="0"/>
              <a:t>. </a:t>
            </a:r>
          </a:p>
          <a:p>
            <a:endParaRPr lang="en-US" sz="1600" b="1" dirty="0"/>
          </a:p>
          <a:p>
            <a:endParaRPr lang="en-US" sz="1600" b="1" dirty="0"/>
          </a:p>
          <a:p>
            <a:r>
              <a:rPr lang="en-US" sz="1600" b="1" dirty="0"/>
              <a:t>Trigger Condition:</a:t>
            </a:r>
            <a:r>
              <a:rPr lang="en-US" sz="1600" dirty="0"/>
              <a:t> If the system is in </a:t>
            </a:r>
            <a:r>
              <a:rPr lang="en-US" dirty="0"/>
              <a:t>WARNING</a:t>
            </a:r>
            <a:r>
              <a:rPr lang="en-US" sz="1600" dirty="0"/>
              <a:t> and TTC drops below 1200 </a:t>
            </a:r>
            <a:r>
              <a:rPr lang="en-US" sz="1600" dirty="0" err="1"/>
              <a:t>ms</a:t>
            </a:r>
            <a:r>
              <a:rPr lang="en-US" sz="1600" dirty="0"/>
              <a:t>, it immediately transitions to </a:t>
            </a:r>
            <a:r>
              <a:rPr lang="en-US" dirty="0"/>
              <a:t>BRAKE</a:t>
            </a:r>
            <a:r>
              <a:rPr lang="en-US" sz="1600" dirty="0"/>
              <a:t>. </a:t>
            </a:r>
          </a:p>
          <a:p>
            <a:endParaRPr lang="en-US" sz="1600" b="1" dirty="0"/>
          </a:p>
          <a:p>
            <a:endParaRPr lang="en-US" sz="1600" b="1" dirty="0"/>
          </a:p>
          <a:p>
            <a:r>
              <a:rPr lang="en-US" sz="1600" b="1" dirty="0"/>
              <a:t>Display Sync:</a:t>
            </a:r>
            <a:r>
              <a:rPr lang="en-US" sz="1600" dirty="0"/>
              <a:t> The LCD updates its status text/color in </a:t>
            </a:r>
            <a:r>
              <a:rPr lang="en-US" dirty="0" err="1"/>
              <a:t>main.c</a:t>
            </a:r>
            <a:r>
              <a:rPr lang="en-US" sz="1600" dirty="0"/>
              <a:t> in lockstep with the current FSM state.</a:t>
            </a:r>
          </a:p>
        </p:txBody>
      </p:sp>
    </p:spTree>
    <p:extLst>
      <p:ext uri="{BB962C8B-B14F-4D97-AF65-F5344CB8AC3E}">
        <p14:creationId xmlns:p14="http://schemas.microsoft.com/office/powerpoint/2010/main" val="2382689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4F81-BD9E-7ADA-5ABE-ED2688E3C20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E2DDCD0-6592-4D30-80AF-E4720F0977B4}"/>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38141217-C4F4-DEB5-65C5-875CBB1F8890}"/>
              </a:ext>
            </a:extLst>
          </p:cNvPr>
          <p:cNvSpPr>
            <a:spLocks noGrp="1"/>
          </p:cNvSpPr>
          <p:nvPr>
            <p:ph type="sldNum" sz="quarter" idx="4"/>
          </p:nvPr>
        </p:nvSpPr>
        <p:spPr/>
        <p:txBody>
          <a:bodyPr/>
          <a:lstStyle/>
          <a:p>
            <a:fld id="{84E4409A-E250-43DE-AEC0-E766029F0D9A}" type="slidenum">
              <a:rPr lang="fa-IR" smtClean="0"/>
              <a:pPr/>
              <a:t>20</a:t>
            </a:fld>
            <a:endParaRPr lang="fa-IR" dirty="0"/>
          </a:p>
        </p:txBody>
      </p:sp>
      <p:pic>
        <p:nvPicPr>
          <p:cNvPr id="11" name="Picture 10">
            <a:extLst>
              <a:ext uri="{FF2B5EF4-FFF2-40B4-BE49-F238E27FC236}">
                <a16:creationId xmlns:a16="http://schemas.microsoft.com/office/drawing/2014/main" id="{FA3A755B-6CAF-9344-91A4-552F009490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303523"/>
          </a:xfrm>
          <a:prstGeom prst="rect">
            <a:avLst/>
          </a:prstGeom>
        </p:spPr>
      </p:pic>
    </p:spTree>
    <p:extLst>
      <p:ext uri="{BB962C8B-B14F-4D97-AF65-F5344CB8AC3E}">
        <p14:creationId xmlns:p14="http://schemas.microsoft.com/office/powerpoint/2010/main" val="3069301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3D9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CD7069-A4C2-49B8-9AA9-18280AEFFF6F}"/>
              </a:ext>
            </a:extLst>
          </p:cNvPr>
          <p:cNvSpPr>
            <a:spLocks noGrp="1"/>
          </p:cNvSpPr>
          <p:nvPr>
            <p:ph type="ftr" sz="quarter" idx="11"/>
          </p:nvPr>
        </p:nvSpPr>
        <p:spPr/>
        <p:txBody>
          <a:bodyPr/>
          <a:lstStyle/>
          <a:p>
            <a:pPr algn="l"/>
            <a:r>
              <a:rPr lang="en-US" cap="all" dirty="0">
                <a:solidFill>
                  <a:srgbClr val="FFB703"/>
                </a:solidFill>
                <a:latin typeface="-apple-system"/>
              </a:rPr>
              <a:t>Smart Car System Design — University of Tabriz</a:t>
            </a:r>
            <a:endParaRPr lang="fa-IR" cap="all" dirty="0">
              <a:solidFill>
                <a:srgbClr val="FFB703"/>
              </a:solidFill>
              <a:latin typeface="-apple-system"/>
            </a:endParaRPr>
          </a:p>
        </p:txBody>
      </p:sp>
      <p:sp>
        <p:nvSpPr>
          <p:cNvPr id="5" name="Slide Number Placeholder 4">
            <a:extLst>
              <a:ext uri="{FF2B5EF4-FFF2-40B4-BE49-F238E27FC236}">
                <a16:creationId xmlns:a16="http://schemas.microsoft.com/office/drawing/2014/main" id="{E0A80B40-49B8-4B34-A52E-3E6944D2EA49}"/>
              </a:ext>
            </a:extLst>
          </p:cNvPr>
          <p:cNvSpPr>
            <a:spLocks noGrp="1"/>
          </p:cNvSpPr>
          <p:nvPr>
            <p:ph type="sldNum" sz="quarter" idx="12"/>
          </p:nvPr>
        </p:nvSpPr>
        <p:spPr/>
        <p:txBody>
          <a:bodyPr/>
          <a:lstStyle/>
          <a:p>
            <a:fld id="{84E4409A-E250-43DE-AEC0-E766029F0D9A}" type="slidenum">
              <a:rPr lang="fa-IR" cap="all" smtClean="0">
                <a:solidFill>
                  <a:srgbClr val="FFB703"/>
                </a:solidFill>
                <a:latin typeface="-apple-system"/>
              </a:rPr>
              <a:t>21</a:t>
            </a:fld>
            <a:endParaRPr lang="fa-IR" cap="all" dirty="0">
              <a:solidFill>
                <a:srgbClr val="FFB703"/>
              </a:solidFill>
              <a:latin typeface="-apple-system"/>
            </a:endParaRPr>
          </a:p>
        </p:txBody>
      </p:sp>
      <p:sp>
        <p:nvSpPr>
          <p:cNvPr id="6" name="Title 1">
            <a:extLst>
              <a:ext uri="{FF2B5EF4-FFF2-40B4-BE49-F238E27FC236}">
                <a16:creationId xmlns:a16="http://schemas.microsoft.com/office/drawing/2014/main" id="{AEC28B1F-5822-4BE4-81D0-EC40F43F51CD}"/>
              </a:ext>
            </a:extLst>
          </p:cNvPr>
          <p:cNvSpPr txBox="1">
            <a:spLocks/>
          </p:cNvSpPr>
          <p:nvPr/>
        </p:nvSpPr>
        <p:spPr>
          <a:xfrm>
            <a:off x="904875" y="226219"/>
            <a:ext cx="984885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400" b="1" dirty="0">
                <a:solidFill>
                  <a:schemeClr val="bg1"/>
                </a:solidFill>
              </a:rPr>
              <a:t>Integration, Emergency Scenarios</a:t>
            </a:r>
            <a:br>
              <a:rPr lang="en-US" sz="5400" b="1" dirty="0">
                <a:solidFill>
                  <a:schemeClr val="bg1"/>
                </a:solidFill>
              </a:rPr>
            </a:br>
            <a:r>
              <a:rPr lang="en-US" sz="5400" b="1" dirty="0">
                <a:solidFill>
                  <a:schemeClr val="bg1"/>
                </a:solidFill>
              </a:rPr>
              <a:t>&amp; Proteus Simulation</a:t>
            </a:r>
          </a:p>
        </p:txBody>
      </p:sp>
      <p:sp>
        <p:nvSpPr>
          <p:cNvPr id="7" name="Subtitle 2">
            <a:extLst>
              <a:ext uri="{FF2B5EF4-FFF2-40B4-BE49-F238E27FC236}">
                <a16:creationId xmlns:a16="http://schemas.microsoft.com/office/drawing/2014/main" id="{B31B158F-F8DA-4C3F-BDB0-8D0E1E77FC14}"/>
              </a:ext>
            </a:extLst>
          </p:cNvPr>
          <p:cNvSpPr txBox="1">
            <a:spLocks/>
          </p:cNvSpPr>
          <p:nvPr/>
        </p:nvSpPr>
        <p:spPr>
          <a:xfrm>
            <a:off x="904875" y="2773363"/>
            <a:ext cx="9848850" cy="41751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cap="all" dirty="0">
                <a:solidFill>
                  <a:srgbClr val="FFB703"/>
                </a:solidFill>
                <a:latin typeface="-apple-system"/>
              </a:rPr>
              <a:t>Phase 3</a:t>
            </a:r>
            <a:endParaRPr lang="fa-IR" sz="2000" b="1" cap="all" dirty="0">
              <a:solidFill>
                <a:srgbClr val="FFB703"/>
              </a:solidFill>
              <a:latin typeface="-apple-system"/>
            </a:endParaRPr>
          </a:p>
        </p:txBody>
      </p:sp>
      <p:sp>
        <p:nvSpPr>
          <p:cNvPr id="8" name="TextBox 7">
            <a:extLst>
              <a:ext uri="{FF2B5EF4-FFF2-40B4-BE49-F238E27FC236}">
                <a16:creationId xmlns:a16="http://schemas.microsoft.com/office/drawing/2014/main" id="{3A7CD8C7-EFFC-44A0-8D1D-0C64780B4CAC}"/>
              </a:ext>
            </a:extLst>
          </p:cNvPr>
          <p:cNvSpPr txBox="1"/>
          <p:nvPr/>
        </p:nvSpPr>
        <p:spPr>
          <a:xfrm>
            <a:off x="904875" y="3509963"/>
            <a:ext cx="10477500" cy="1200329"/>
          </a:xfrm>
          <a:prstGeom prst="rect">
            <a:avLst/>
          </a:prstGeom>
          <a:noFill/>
        </p:spPr>
        <p:txBody>
          <a:bodyPr wrap="square">
            <a:spAutoFit/>
          </a:bodyPr>
          <a:lstStyle/>
          <a:p>
            <a:r>
              <a:rPr lang="en-US" dirty="0">
                <a:solidFill>
                  <a:srgbClr val="FFFFFF"/>
                </a:solidFill>
                <a:latin typeface="-apple-system"/>
              </a:rPr>
              <a:t>In this phase, all modules developed in previous phases (artificial intelligence, control logic and display drivers) were integrated and tested on the virtual hardware of the VE401F32STM microcontroller in the Proteus environment. The aim of this phase is to evaluate the correctness of the performance of the entire system in a simulated environment before implementing it on a real board.</a:t>
            </a:r>
            <a:endParaRPr lang="fa-IR" dirty="0">
              <a:solidFill>
                <a:srgbClr val="FFFFFF"/>
              </a:solidFill>
              <a:latin typeface="-apple-system"/>
            </a:endParaRPr>
          </a:p>
        </p:txBody>
      </p:sp>
    </p:spTree>
    <p:extLst>
      <p:ext uri="{BB962C8B-B14F-4D97-AF65-F5344CB8AC3E}">
        <p14:creationId xmlns:p14="http://schemas.microsoft.com/office/powerpoint/2010/main" val="2284790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87DB-014D-6F9B-A7BD-E1FFCC84199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6F1853-41E8-D044-3038-37022BA301A4}"/>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5142C0B4-BE51-BB6F-DD00-BF01EFB1DD71}"/>
              </a:ext>
            </a:extLst>
          </p:cNvPr>
          <p:cNvSpPr>
            <a:spLocks noGrp="1"/>
          </p:cNvSpPr>
          <p:nvPr>
            <p:ph type="sldNum" sz="quarter" idx="4"/>
          </p:nvPr>
        </p:nvSpPr>
        <p:spPr/>
        <p:txBody>
          <a:bodyPr/>
          <a:lstStyle/>
          <a:p>
            <a:fld id="{84E4409A-E250-43DE-AEC0-E766029F0D9A}" type="slidenum">
              <a:rPr lang="fa-IR" smtClean="0"/>
              <a:pPr/>
              <a:t>22</a:t>
            </a:fld>
            <a:endParaRPr lang="fa-IR" dirty="0"/>
          </a:p>
        </p:txBody>
      </p:sp>
      <p:sp>
        <p:nvSpPr>
          <p:cNvPr id="6" name="Title 1">
            <a:extLst>
              <a:ext uri="{FF2B5EF4-FFF2-40B4-BE49-F238E27FC236}">
                <a16:creationId xmlns:a16="http://schemas.microsoft.com/office/drawing/2014/main" id="{BCA854AB-1FD7-D936-4F72-78F414FD98CF}"/>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Schematic Design &amp; Hardware Wiring</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E29182C2-BD0E-1156-058F-90E7BD662FC9}"/>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FB9D326-444A-6BA9-5080-EBCABF2FC1FE}"/>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Assembling the virtual prototype in Proteus</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D542C9A3-0270-D796-DE1B-1A15CA389E9E}"/>
              </a:ext>
            </a:extLst>
          </p:cNvPr>
          <p:cNvSpPr txBox="1"/>
          <p:nvPr/>
        </p:nvSpPr>
        <p:spPr>
          <a:xfrm>
            <a:off x="911966" y="2203135"/>
            <a:ext cx="10441834" cy="2554545"/>
          </a:xfrm>
          <a:prstGeom prst="rect">
            <a:avLst/>
          </a:prstGeom>
          <a:noFill/>
        </p:spPr>
        <p:txBody>
          <a:bodyPr wrap="square">
            <a:spAutoFit/>
          </a:bodyPr>
          <a:lstStyle/>
          <a:p>
            <a:r>
              <a:rPr lang="en-US" sz="1600" b="1" dirty="0"/>
              <a:t>MCU:</a:t>
            </a:r>
            <a:r>
              <a:rPr lang="en-US" sz="1600" dirty="0"/>
              <a:t> STM32F401VE placed as the central processing unit. </a:t>
            </a:r>
          </a:p>
          <a:p>
            <a:endParaRPr lang="en-US" sz="1600" b="1" dirty="0"/>
          </a:p>
          <a:p>
            <a:endParaRPr lang="en-US" sz="1600" b="1" dirty="0"/>
          </a:p>
          <a:p>
            <a:r>
              <a:rPr lang="en-US" sz="1600" b="1" dirty="0"/>
              <a:t>Debug Link:</a:t>
            </a:r>
            <a:r>
              <a:rPr lang="en-US" sz="1600" dirty="0"/>
              <a:t> UART TX/RX (PA2/PA3) wired to Proteus's Virtual Terminal for real-time monitoring. </a:t>
            </a:r>
          </a:p>
          <a:p>
            <a:endParaRPr lang="en-US" sz="1600" b="1" dirty="0"/>
          </a:p>
          <a:p>
            <a:endParaRPr lang="en-US" sz="1600" b="1" dirty="0"/>
          </a:p>
          <a:p>
            <a:r>
              <a:rPr lang="en-US" sz="1600" b="1" dirty="0"/>
              <a:t>Display:</a:t>
            </a:r>
            <a:r>
              <a:rPr lang="en-US" sz="1600" dirty="0"/>
              <a:t> ILI9341 color LCD wired via SPI, with mode-select pins (IM0–IM3) and control lines (CS, RES) tied to MCU GPIOs. </a:t>
            </a:r>
          </a:p>
          <a:p>
            <a:endParaRPr lang="en-US" sz="1600" b="1" dirty="0"/>
          </a:p>
          <a:p>
            <a:endParaRPr lang="en-US" sz="1600" b="1" dirty="0"/>
          </a:p>
          <a:p>
            <a:r>
              <a:rPr lang="en-US" sz="1600" b="1" dirty="0"/>
              <a:t>Input:</a:t>
            </a:r>
            <a:r>
              <a:rPr lang="en-US" sz="1600" dirty="0"/>
              <a:t> A push-button used to step through the 5 test scenarios.</a:t>
            </a:r>
          </a:p>
        </p:txBody>
      </p:sp>
    </p:spTree>
    <p:extLst>
      <p:ext uri="{BB962C8B-B14F-4D97-AF65-F5344CB8AC3E}">
        <p14:creationId xmlns:p14="http://schemas.microsoft.com/office/powerpoint/2010/main" val="1266845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2A954-382C-9EF0-AB04-8AA00A327BA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58A73E9-0CCD-E6F0-2767-9964B7F9A4BC}"/>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7BFA1FB7-25E6-9400-E78C-A91306C86C98}"/>
              </a:ext>
            </a:extLst>
          </p:cNvPr>
          <p:cNvSpPr>
            <a:spLocks noGrp="1"/>
          </p:cNvSpPr>
          <p:nvPr>
            <p:ph type="sldNum" sz="quarter" idx="4"/>
          </p:nvPr>
        </p:nvSpPr>
        <p:spPr/>
        <p:txBody>
          <a:bodyPr/>
          <a:lstStyle/>
          <a:p>
            <a:fld id="{84E4409A-E250-43DE-AEC0-E766029F0D9A}" type="slidenum">
              <a:rPr lang="fa-IR" smtClean="0"/>
              <a:pPr/>
              <a:t>23</a:t>
            </a:fld>
            <a:endParaRPr lang="fa-IR" dirty="0"/>
          </a:p>
        </p:txBody>
      </p:sp>
      <p:pic>
        <p:nvPicPr>
          <p:cNvPr id="13" name="Picture 12">
            <a:extLst>
              <a:ext uri="{FF2B5EF4-FFF2-40B4-BE49-F238E27FC236}">
                <a16:creationId xmlns:a16="http://schemas.microsoft.com/office/drawing/2014/main" id="{C6A768F2-6C19-A9E7-3D88-B0C9695AC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245157"/>
          </a:xfrm>
          <a:prstGeom prst="rect">
            <a:avLst/>
          </a:prstGeom>
        </p:spPr>
      </p:pic>
    </p:spTree>
    <p:extLst>
      <p:ext uri="{BB962C8B-B14F-4D97-AF65-F5344CB8AC3E}">
        <p14:creationId xmlns:p14="http://schemas.microsoft.com/office/powerpoint/2010/main" val="3153624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4397-6052-6620-26FA-A786759F941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2BE9AB4-B55F-AEB8-AD8B-2BDE9AEC2D3E}"/>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97B07211-F20E-9F91-B221-972257253780}"/>
              </a:ext>
            </a:extLst>
          </p:cNvPr>
          <p:cNvSpPr>
            <a:spLocks noGrp="1"/>
          </p:cNvSpPr>
          <p:nvPr>
            <p:ph type="sldNum" sz="quarter" idx="4"/>
          </p:nvPr>
        </p:nvSpPr>
        <p:spPr/>
        <p:txBody>
          <a:bodyPr/>
          <a:lstStyle/>
          <a:p>
            <a:fld id="{84E4409A-E250-43DE-AEC0-E766029F0D9A}" type="slidenum">
              <a:rPr lang="fa-IR" smtClean="0"/>
              <a:pPr/>
              <a:t>24</a:t>
            </a:fld>
            <a:endParaRPr lang="fa-IR" dirty="0"/>
          </a:p>
        </p:txBody>
      </p:sp>
      <p:sp>
        <p:nvSpPr>
          <p:cNvPr id="6" name="Title 1">
            <a:extLst>
              <a:ext uri="{FF2B5EF4-FFF2-40B4-BE49-F238E27FC236}">
                <a16:creationId xmlns:a16="http://schemas.microsoft.com/office/drawing/2014/main" id="{2D12CFDD-C7FE-C143-4AC0-CB1DF69C9FE1}"/>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System Initialization &amp; Boot Sequence</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B8C9A8A2-485A-F343-B01A-E9EB7CE7E8C6}"/>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889ED7D-894E-C50F-89B2-F20543E55B78}"/>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What happens the moment simulation starts</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99409C12-BF59-913B-FDA6-342685536E81}"/>
              </a:ext>
            </a:extLst>
          </p:cNvPr>
          <p:cNvSpPr txBox="1"/>
          <p:nvPr/>
        </p:nvSpPr>
        <p:spPr>
          <a:xfrm>
            <a:off x="911966" y="2203135"/>
            <a:ext cx="3455753" cy="3600986"/>
          </a:xfrm>
          <a:prstGeom prst="rect">
            <a:avLst/>
          </a:prstGeom>
          <a:noFill/>
        </p:spPr>
        <p:txBody>
          <a:bodyPr wrap="square">
            <a:spAutoFit/>
          </a:bodyPr>
          <a:lstStyle/>
          <a:p>
            <a:r>
              <a:rPr lang="en-US" sz="1600" b="1" dirty="0"/>
              <a:t>Model Load:</a:t>
            </a:r>
            <a:r>
              <a:rPr lang="en-US" sz="1600" dirty="0"/>
              <a:t> Activation memory (Act Size: 41,188 bytes) and weight memory (Weights Size: 3,012 bytes) are allocated at boot. </a:t>
            </a:r>
          </a:p>
          <a:p>
            <a:endParaRPr lang="en-US" sz="1600" b="1" dirty="0"/>
          </a:p>
          <a:p>
            <a:r>
              <a:rPr lang="en-US" sz="1600" b="1" dirty="0"/>
              <a:t>Confirmation:</a:t>
            </a:r>
            <a:r>
              <a:rPr lang="en-US" sz="1600" dirty="0"/>
              <a:t> The terminal prints </a:t>
            </a:r>
            <a:r>
              <a:rPr lang="en-US" dirty="0"/>
              <a:t>AI Engine Initialized Successfully!</a:t>
            </a:r>
            <a:r>
              <a:rPr lang="en-US" sz="1600" dirty="0"/>
              <a:t>, confirming the model loaded correctly into MCU memory. </a:t>
            </a:r>
          </a:p>
          <a:p>
            <a:endParaRPr lang="en-US" sz="1600" b="1" dirty="0"/>
          </a:p>
          <a:p>
            <a:r>
              <a:rPr lang="en-US" sz="1600" b="1" dirty="0"/>
              <a:t>Ready State:</a:t>
            </a:r>
            <a:r>
              <a:rPr lang="en-US" sz="1600" dirty="0"/>
              <a:t> The system then enters its main loop, continuously running inference on the current simulated frame.</a:t>
            </a:r>
          </a:p>
        </p:txBody>
      </p:sp>
      <p:pic>
        <p:nvPicPr>
          <p:cNvPr id="2" name="Picture 1">
            <a:extLst>
              <a:ext uri="{FF2B5EF4-FFF2-40B4-BE49-F238E27FC236}">
                <a16:creationId xmlns:a16="http://schemas.microsoft.com/office/drawing/2014/main" id="{6CFDD1ED-936B-927B-E1CF-B720CA45888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84451" y="2070759"/>
            <a:ext cx="6624536" cy="403112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57396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F7549-213C-7FA2-1BF1-7BA23C4B6B0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99CD5B7-9331-6474-6FDA-74044EF0ADDA}"/>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55661ED5-2046-0E8E-37DC-D5B7295A7FCE}"/>
              </a:ext>
            </a:extLst>
          </p:cNvPr>
          <p:cNvSpPr>
            <a:spLocks noGrp="1"/>
          </p:cNvSpPr>
          <p:nvPr>
            <p:ph type="sldNum" sz="quarter" idx="4"/>
          </p:nvPr>
        </p:nvSpPr>
        <p:spPr/>
        <p:txBody>
          <a:bodyPr/>
          <a:lstStyle/>
          <a:p>
            <a:fld id="{84E4409A-E250-43DE-AEC0-E766029F0D9A}" type="slidenum">
              <a:rPr lang="fa-IR" smtClean="0"/>
              <a:pPr/>
              <a:t>25</a:t>
            </a:fld>
            <a:endParaRPr lang="fa-IR" dirty="0"/>
          </a:p>
        </p:txBody>
      </p:sp>
      <p:sp>
        <p:nvSpPr>
          <p:cNvPr id="6" name="Title 1">
            <a:extLst>
              <a:ext uri="{FF2B5EF4-FFF2-40B4-BE49-F238E27FC236}">
                <a16:creationId xmlns:a16="http://schemas.microsoft.com/office/drawing/2014/main" id="{26566E62-2AEA-A3C5-17A3-793C753413EF}"/>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Scenario Test: Normal / Safe Condition</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25EA002D-34FC-5B3B-9044-B90033F3CF3E}"/>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CF6B553-BF80-C76F-CB2B-652B4539B8D7}"/>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Baseline behavior with no obstacle present</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606A1307-8E52-F9E3-7B3E-924B75F4F719}"/>
              </a:ext>
            </a:extLst>
          </p:cNvPr>
          <p:cNvSpPr txBox="1"/>
          <p:nvPr/>
        </p:nvSpPr>
        <p:spPr>
          <a:xfrm>
            <a:off x="911966" y="2203135"/>
            <a:ext cx="4041034" cy="2339102"/>
          </a:xfrm>
          <a:prstGeom prst="rect">
            <a:avLst/>
          </a:prstGeom>
          <a:noFill/>
        </p:spPr>
        <p:txBody>
          <a:bodyPr wrap="square">
            <a:spAutoFit/>
          </a:bodyPr>
          <a:lstStyle/>
          <a:p>
            <a:r>
              <a:rPr lang="en-US" sz="1600" b="1" dirty="0"/>
              <a:t>Input:</a:t>
            </a:r>
            <a:r>
              <a:rPr lang="en-US" sz="1600" dirty="0"/>
              <a:t> Simulated frame with background noise only, no obstacle. </a:t>
            </a:r>
          </a:p>
          <a:p>
            <a:endParaRPr lang="en-US" sz="1600" b="1" dirty="0"/>
          </a:p>
          <a:p>
            <a:endParaRPr lang="en-US" sz="1600" b="1" dirty="0"/>
          </a:p>
          <a:p>
            <a:r>
              <a:rPr lang="en-US" sz="1600" b="1" dirty="0"/>
              <a:t>AI Output:</a:t>
            </a:r>
            <a:r>
              <a:rPr lang="en-US" sz="1600" dirty="0"/>
              <a:t> 8% obstacle probability. </a:t>
            </a:r>
          </a:p>
          <a:p>
            <a:endParaRPr lang="en-US" sz="1600" b="1" dirty="0"/>
          </a:p>
          <a:p>
            <a:endParaRPr lang="en-US" sz="1600" b="1" dirty="0"/>
          </a:p>
          <a:p>
            <a:r>
              <a:rPr lang="en-US" sz="1600" b="1" dirty="0"/>
              <a:t>System Response:</a:t>
            </a:r>
            <a:r>
              <a:rPr lang="en-US" sz="1600" dirty="0"/>
              <a:t> FSM remains in </a:t>
            </a:r>
            <a:r>
              <a:rPr lang="en-US" dirty="0"/>
              <a:t>NORMAL</a:t>
            </a:r>
            <a:r>
              <a:rPr lang="en-US" sz="1600" dirty="0"/>
              <a:t>; LCD displays a green </a:t>
            </a:r>
            <a:r>
              <a:rPr lang="en-US" sz="1600" b="1" dirty="0"/>
              <a:t>"Safe"</a:t>
            </a:r>
            <a:r>
              <a:rPr lang="en-US" sz="1600" dirty="0"/>
              <a:t> status.</a:t>
            </a:r>
          </a:p>
        </p:txBody>
      </p:sp>
      <p:pic>
        <p:nvPicPr>
          <p:cNvPr id="9" name="Picture 8">
            <a:extLst>
              <a:ext uri="{FF2B5EF4-FFF2-40B4-BE49-F238E27FC236}">
                <a16:creationId xmlns:a16="http://schemas.microsoft.com/office/drawing/2014/main" id="{679CCF56-DB3D-02CA-A1A7-4359A0F836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11693" y="1843125"/>
            <a:ext cx="3725694" cy="4292817"/>
          </a:xfrm>
          <a:prstGeom prst="rect">
            <a:avLst/>
          </a:prstGeom>
          <a:ln>
            <a:noFill/>
          </a:ln>
          <a:effectLst>
            <a:softEdge rad="112500"/>
          </a:effectLst>
        </p:spPr>
      </p:pic>
    </p:spTree>
    <p:extLst>
      <p:ext uri="{BB962C8B-B14F-4D97-AF65-F5344CB8AC3E}">
        <p14:creationId xmlns:p14="http://schemas.microsoft.com/office/powerpoint/2010/main" val="1457003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2D9B3-3E1D-DB61-5F10-B0F4C6731BD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6FAEDE-EA67-79B7-D001-95E46C7F22CF}"/>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B6C68A51-B6DC-4EAB-00A7-C73CD0852157}"/>
              </a:ext>
            </a:extLst>
          </p:cNvPr>
          <p:cNvSpPr>
            <a:spLocks noGrp="1"/>
          </p:cNvSpPr>
          <p:nvPr>
            <p:ph type="sldNum" sz="quarter" idx="4"/>
          </p:nvPr>
        </p:nvSpPr>
        <p:spPr/>
        <p:txBody>
          <a:bodyPr/>
          <a:lstStyle/>
          <a:p>
            <a:fld id="{84E4409A-E250-43DE-AEC0-E766029F0D9A}" type="slidenum">
              <a:rPr lang="fa-IR" smtClean="0"/>
              <a:pPr/>
              <a:t>26</a:t>
            </a:fld>
            <a:endParaRPr lang="fa-IR" dirty="0"/>
          </a:p>
        </p:txBody>
      </p:sp>
      <p:sp>
        <p:nvSpPr>
          <p:cNvPr id="6" name="Title 1">
            <a:extLst>
              <a:ext uri="{FF2B5EF4-FFF2-40B4-BE49-F238E27FC236}">
                <a16:creationId xmlns:a16="http://schemas.microsoft.com/office/drawing/2014/main" id="{3B9DCAD6-B489-7199-2CBF-1F33325D4805}"/>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Scenario Test: Emergency Braking</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A15B8869-A4A9-74E6-107E-AE1DDBBE2A4B}"/>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4E06E0-F73C-8690-4CEC-8792B6526B63}"/>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Reaction to a closing obstacle</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285986F0-0B5D-2A7D-55A5-D6BB5098EF5F}"/>
              </a:ext>
            </a:extLst>
          </p:cNvPr>
          <p:cNvSpPr txBox="1"/>
          <p:nvPr/>
        </p:nvSpPr>
        <p:spPr>
          <a:xfrm>
            <a:off x="911965" y="2203135"/>
            <a:ext cx="4837081" cy="2585323"/>
          </a:xfrm>
          <a:prstGeom prst="rect">
            <a:avLst/>
          </a:prstGeom>
          <a:noFill/>
        </p:spPr>
        <p:txBody>
          <a:bodyPr wrap="square">
            <a:spAutoFit/>
          </a:bodyPr>
          <a:lstStyle/>
          <a:p>
            <a:r>
              <a:rPr lang="en-US" sz="1600" b="1" dirty="0"/>
              <a:t>Trigger:</a:t>
            </a:r>
            <a:r>
              <a:rPr lang="en-US" sz="1600" dirty="0"/>
              <a:t> Pressing the input button simulates an approaching obstacle. </a:t>
            </a:r>
          </a:p>
          <a:p>
            <a:endParaRPr lang="en-US" sz="1600" b="1" dirty="0"/>
          </a:p>
          <a:p>
            <a:r>
              <a:rPr lang="en-US" sz="1600" b="1" dirty="0"/>
              <a:t>AI Output:</a:t>
            </a:r>
            <a:r>
              <a:rPr lang="en-US" sz="1600" dirty="0"/>
              <a:t> Obstacle probability jumps to 95%. </a:t>
            </a:r>
          </a:p>
          <a:p>
            <a:endParaRPr lang="en-US" sz="1600" b="1" dirty="0"/>
          </a:p>
          <a:p>
            <a:r>
              <a:rPr lang="en-US" sz="1600" b="1" dirty="0"/>
              <a:t>Risk Calculation:</a:t>
            </a:r>
            <a:r>
              <a:rPr lang="en-US" sz="1600" dirty="0"/>
              <a:t> TTC computed at 1000 </a:t>
            </a:r>
            <a:r>
              <a:rPr lang="en-US" sz="1600" dirty="0" err="1"/>
              <a:t>ms</a:t>
            </a:r>
            <a:r>
              <a:rPr lang="en-US" sz="1600" dirty="0"/>
              <a:t> — below the 1200 </a:t>
            </a:r>
            <a:r>
              <a:rPr lang="en-US" sz="1600" dirty="0" err="1"/>
              <a:t>ms</a:t>
            </a:r>
            <a:r>
              <a:rPr lang="en-US" sz="1600" dirty="0"/>
              <a:t> braking threshold. </a:t>
            </a:r>
          </a:p>
          <a:p>
            <a:endParaRPr lang="en-US" sz="1600" b="1" dirty="0"/>
          </a:p>
          <a:p>
            <a:r>
              <a:rPr lang="en-US" sz="1600" b="1" dirty="0"/>
              <a:t>System Response:</a:t>
            </a:r>
            <a:r>
              <a:rPr lang="en-US" sz="1600" dirty="0"/>
              <a:t> FSM immediately transitions to </a:t>
            </a:r>
            <a:r>
              <a:rPr lang="en-US" dirty="0"/>
              <a:t>BRAKING!</a:t>
            </a:r>
            <a:r>
              <a:rPr lang="en-US" sz="1600" dirty="0"/>
              <a:t>; LCD switches to a red warning display.</a:t>
            </a:r>
          </a:p>
        </p:txBody>
      </p:sp>
      <p:pic>
        <p:nvPicPr>
          <p:cNvPr id="2" name="Picture 1">
            <a:extLst>
              <a:ext uri="{FF2B5EF4-FFF2-40B4-BE49-F238E27FC236}">
                <a16:creationId xmlns:a16="http://schemas.microsoft.com/office/drawing/2014/main" id="{55E3EF59-0A79-54C8-1A13-4A9A301363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43125"/>
            <a:ext cx="3690215" cy="4295028"/>
          </a:xfrm>
          <a:prstGeom prst="rect">
            <a:avLst/>
          </a:prstGeom>
          <a:ln>
            <a:noFill/>
          </a:ln>
          <a:effectLst>
            <a:softEdge rad="112500"/>
          </a:effectLst>
        </p:spPr>
      </p:pic>
    </p:spTree>
    <p:extLst>
      <p:ext uri="{BB962C8B-B14F-4D97-AF65-F5344CB8AC3E}">
        <p14:creationId xmlns:p14="http://schemas.microsoft.com/office/powerpoint/2010/main" val="607259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1E6FC-C16C-A345-0F5A-BEE6BAE51CD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C2369DB-C202-5E64-1920-70679C7E923F}"/>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77F87204-D1C7-65DD-351A-0959E5067318}"/>
              </a:ext>
            </a:extLst>
          </p:cNvPr>
          <p:cNvSpPr>
            <a:spLocks noGrp="1"/>
          </p:cNvSpPr>
          <p:nvPr>
            <p:ph type="sldNum" sz="quarter" idx="4"/>
          </p:nvPr>
        </p:nvSpPr>
        <p:spPr/>
        <p:txBody>
          <a:bodyPr/>
          <a:lstStyle/>
          <a:p>
            <a:fld id="{84E4409A-E250-43DE-AEC0-E766029F0D9A}" type="slidenum">
              <a:rPr lang="fa-IR" smtClean="0"/>
              <a:pPr/>
              <a:t>27</a:t>
            </a:fld>
            <a:endParaRPr lang="fa-IR" dirty="0"/>
          </a:p>
        </p:txBody>
      </p:sp>
      <p:sp>
        <p:nvSpPr>
          <p:cNvPr id="6" name="Title 1">
            <a:extLst>
              <a:ext uri="{FF2B5EF4-FFF2-40B4-BE49-F238E27FC236}">
                <a16:creationId xmlns:a16="http://schemas.microsoft.com/office/drawing/2014/main" id="{7F456A72-F6D2-7E63-342B-E4EF6800803E}"/>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Performance Evaluation</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D5213804-A248-BC5C-554E-FF9CC8F384C0}"/>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7340903-CA00-A566-AC39-2A1766692473}"/>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Measured, not estimated, timing</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2650C9A0-BB13-6295-C4AA-41AD0145FE0D}"/>
              </a:ext>
            </a:extLst>
          </p:cNvPr>
          <p:cNvSpPr txBox="1"/>
          <p:nvPr/>
        </p:nvSpPr>
        <p:spPr>
          <a:xfrm>
            <a:off x="911965" y="2203135"/>
            <a:ext cx="9730095" cy="2308324"/>
          </a:xfrm>
          <a:prstGeom prst="rect">
            <a:avLst/>
          </a:prstGeom>
          <a:noFill/>
        </p:spPr>
        <p:txBody>
          <a:bodyPr wrap="square">
            <a:spAutoFit/>
          </a:bodyPr>
          <a:lstStyle/>
          <a:p>
            <a:r>
              <a:rPr lang="en-US" sz="1600" b="1" dirty="0"/>
              <a:t>Measured Inference Time:</a:t>
            </a:r>
            <a:r>
              <a:rPr lang="en-US" sz="1600" dirty="0"/>
              <a:t> 115–122 </a:t>
            </a:r>
            <a:r>
              <a:rPr lang="en-US" sz="1600" dirty="0" err="1"/>
              <a:t>ms</a:t>
            </a:r>
            <a:r>
              <a:rPr lang="en-US" sz="1600" dirty="0"/>
              <a:t> per cycle, read directly from on-chip timing logged over UART.</a:t>
            </a:r>
          </a:p>
          <a:p>
            <a:endParaRPr lang="en-US" sz="1600" dirty="0"/>
          </a:p>
          <a:p>
            <a:endParaRPr lang="en-US" sz="1600" dirty="0"/>
          </a:p>
          <a:p>
            <a:r>
              <a:rPr lang="en-US" sz="1600" b="1" dirty="0"/>
              <a:t>Effective Frame Rate:</a:t>
            </a:r>
            <a:r>
              <a:rPr lang="en-US" sz="1600" dirty="0"/>
              <a:t> Roughly 8–9 FPS at this clock configuration. </a:t>
            </a:r>
          </a:p>
          <a:p>
            <a:endParaRPr lang="en-US" sz="1600" b="1" dirty="0"/>
          </a:p>
          <a:p>
            <a:endParaRPr lang="en-US" sz="1600" b="1" dirty="0"/>
          </a:p>
          <a:p>
            <a:r>
              <a:rPr lang="en-US" sz="1600" b="1" dirty="0"/>
              <a:t>Assessment:</a:t>
            </a:r>
            <a:r>
              <a:rPr lang="en-US" sz="1600" dirty="0"/>
              <a:t> This confirms the pipeline is functionally correct end-to-end, but the current frame rate is on the low side for a safety-critical automotive use case and would benefit from further optimization (e.g., a higher system clock or a lighter model).</a:t>
            </a:r>
          </a:p>
        </p:txBody>
      </p:sp>
    </p:spTree>
    <p:extLst>
      <p:ext uri="{BB962C8B-B14F-4D97-AF65-F5344CB8AC3E}">
        <p14:creationId xmlns:p14="http://schemas.microsoft.com/office/powerpoint/2010/main" val="34129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ED9F-4CA3-091D-29A6-DC332065718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6E20B7-75BE-6121-1A83-6294B8CF74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13251" y="1870285"/>
            <a:ext cx="4795736" cy="4326234"/>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618A5D61-0725-E403-9A96-0DEB5FBEB445}"/>
              </a:ext>
            </a:extLst>
          </p:cNvPr>
          <p:cNvSpPr>
            <a:spLocks noGrp="1"/>
          </p:cNvSpPr>
          <p:nvPr>
            <p:ph type="ftr" sz="quarter" idx="3"/>
          </p:nvPr>
        </p:nvSpPr>
        <p:spPr/>
        <p:txBody>
          <a:bodyPr/>
          <a:lstStyle/>
          <a:p>
            <a:pPr algn="l"/>
            <a:r>
              <a:rPr lang="en-US" cap="all">
                <a:latin typeface="-apple-system"/>
              </a:rPr>
              <a:t>Smart Car System Design — University of Tabriz</a:t>
            </a:r>
            <a:endParaRPr lang="fa-IR" dirty="0"/>
          </a:p>
        </p:txBody>
      </p:sp>
      <p:sp>
        <p:nvSpPr>
          <p:cNvPr id="5" name="Slide Number Placeholder 4">
            <a:extLst>
              <a:ext uri="{FF2B5EF4-FFF2-40B4-BE49-F238E27FC236}">
                <a16:creationId xmlns:a16="http://schemas.microsoft.com/office/drawing/2014/main" id="{6FE20F09-5B3D-1DF7-BCC4-81E3389DE3A4}"/>
              </a:ext>
            </a:extLst>
          </p:cNvPr>
          <p:cNvSpPr>
            <a:spLocks noGrp="1"/>
          </p:cNvSpPr>
          <p:nvPr>
            <p:ph type="sldNum" sz="quarter" idx="4"/>
          </p:nvPr>
        </p:nvSpPr>
        <p:spPr/>
        <p:txBody>
          <a:bodyPr/>
          <a:lstStyle/>
          <a:p>
            <a:fld id="{84E4409A-E250-43DE-AEC0-E766029F0D9A}" type="slidenum">
              <a:rPr lang="fa-IR" smtClean="0"/>
              <a:pPr/>
              <a:t>28</a:t>
            </a:fld>
            <a:endParaRPr lang="fa-IR" dirty="0"/>
          </a:p>
        </p:txBody>
      </p:sp>
      <p:sp>
        <p:nvSpPr>
          <p:cNvPr id="6" name="Title 1">
            <a:extLst>
              <a:ext uri="{FF2B5EF4-FFF2-40B4-BE49-F238E27FC236}">
                <a16:creationId xmlns:a16="http://schemas.microsoft.com/office/drawing/2014/main" id="{94B8EB0B-6D9E-F748-B2BA-E03B2737DF42}"/>
              </a:ext>
            </a:extLst>
          </p:cNvPr>
          <p:cNvSpPr>
            <a:spLocks noGrp="1"/>
          </p:cNvSpPr>
          <p:nvPr>
            <p:ph type="title"/>
          </p:nvPr>
        </p:nvSpPr>
        <p:spPr>
          <a:xfrm>
            <a:off x="838200" y="365125"/>
            <a:ext cx="10515600" cy="1325563"/>
          </a:xfrm>
        </p:spPr>
        <p:txBody>
          <a:bodyPr>
            <a:normAutofit/>
          </a:bodyPr>
          <a:lstStyle/>
          <a:p>
            <a:r>
              <a:rPr lang="en-US" sz="3600" dirty="0">
                <a:solidFill>
                  <a:schemeClr val="accent2">
                    <a:lumMod val="50000"/>
                  </a:schemeClr>
                </a:solidFill>
              </a:rPr>
              <a:t>Conclusion &amp; Toolchain Summary</a:t>
            </a:r>
            <a:br>
              <a:rPr lang="en-US" sz="5400" b="1" i="0" dirty="0">
                <a:solidFill>
                  <a:schemeClr val="accent2">
                    <a:lumMod val="50000"/>
                  </a:schemeClr>
                </a:solidFill>
                <a:effectLst/>
                <a:latin typeface="-apple-system"/>
              </a:rPr>
            </a:br>
            <a:endParaRPr lang="fa-IR" sz="5400" dirty="0">
              <a:solidFill>
                <a:schemeClr val="accent2">
                  <a:lumMod val="50000"/>
                </a:schemeClr>
              </a:solidFill>
            </a:endParaRPr>
          </a:p>
        </p:txBody>
      </p:sp>
      <p:cxnSp>
        <p:nvCxnSpPr>
          <p:cNvPr id="7" name="Straight Connector 6">
            <a:extLst>
              <a:ext uri="{FF2B5EF4-FFF2-40B4-BE49-F238E27FC236}">
                <a16:creationId xmlns:a16="http://schemas.microsoft.com/office/drawing/2014/main" id="{9863B314-8D90-5DB2-8CF8-1C385847FC22}"/>
              </a:ext>
            </a:extLst>
          </p:cNvPr>
          <p:cNvCxnSpPr>
            <a:cxnSpLocks/>
          </p:cNvCxnSpPr>
          <p:nvPr/>
        </p:nvCxnSpPr>
        <p:spPr>
          <a:xfrm>
            <a:off x="895350" y="497205"/>
            <a:ext cx="0" cy="441960"/>
          </a:xfrm>
          <a:prstGeom prst="line">
            <a:avLst/>
          </a:prstGeom>
          <a:ln w="38100">
            <a:solidFill>
              <a:srgbClr val="0B3D9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8669C98-7B48-FF24-F985-CF4BDA3DE3EB}"/>
              </a:ext>
            </a:extLst>
          </p:cNvPr>
          <p:cNvSpPr txBox="1"/>
          <p:nvPr/>
        </p:nvSpPr>
        <p:spPr>
          <a:xfrm>
            <a:off x="838197" y="1191090"/>
            <a:ext cx="8091793" cy="400110"/>
          </a:xfrm>
          <a:prstGeom prst="rect">
            <a:avLst/>
          </a:prstGeom>
          <a:noFill/>
        </p:spPr>
        <p:txBody>
          <a:bodyPr wrap="square">
            <a:spAutoFit/>
          </a:bodyPr>
          <a:lstStyle/>
          <a:p>
            <a:r>
              <a:rPr lang="en-US" sz="2000" dirty="0">
                <a:solidFill>
                  <a:schemeClr val="tx1">
                    <a:lumMod val="75000"/>
                    <a:lumOff val="25000"/>
                  </a:schemeClr>
                </a:solidFill>
              </a:rPr>
              <a:t>From idea to a fully simulated edge-AI pipeline</a:t>
            </a:r>
            <a:endParaRPr lang="fa-IR" sz="2000" cap="all" dirty="0">
              <a:solidFill>
                <a:schemeClr val="tx1">
                  <a:lumMod val="75000"/>
                  <a:lumOff val="25000"/>
                </a:schemeClr>
              </a:solidFill>
              <a:latin typeface="-apple-system"/>
            </a:endParaRPr>
          </a:p>
        </p:txBody>
      </p:sp>
      <p:sp>
        <p:nvSpPr>
          <p:cNvPr id="3" name="TextBox 2">
            <a:extLst>
              <a:ext uri="{FF2B5EF4-FFF2-40B4-BE49-F238E27FC236}">
                <a16:creationId xmlns:a16="http://schemas.microsoft.com/office/drawing/2014/main" id="{A623EF05-E000-705D-6FE7-8F40162D94BA}"/>
              </a:ext>
            </a:extLst>
          </p:cNvPr>
          <p:cNvSpPr txBox="1"/>
          <p:nvPr/>
        </p:nvSpPr>
        <p:spPr>
          <a:xfrm>
            <a:off x="911965" y="2203135"/>
            <a:ext cx="5401286" cy="3539430"/>
          </a:xfrm>
          <a:prstGeom prst="rect">
            <a:avLst/>
          </a:prstGeom>
          <a:noFill/>
        </p:spPr>
        <p:txBody>
          <a:bodyPr wrap="square">
            <a:spAutoFit/>
          </a:bodyPr>
          <a:lstStyle/>
          <a:p>
            <a:r>
              <a:rPr lang="en-US" sz="1600" b="1" dirty="0"/>
              <a:t>Outcome:</a:t>
            </a:r>
            <a:r>
              <a:rPr lang="en-US" sz="1600" dirty="0"/>
              <a:t> A complete obstacle-detection and emergency-braking pipeline was designed, trained, deployed, and validated entirely through simulation — no physical hardware required. </a:t>
            </a:r>
          </a:p>
          <a:p>
            <a:endParaRPr lang="en-US" sz="1600" b="1" dirty="0"/>
          </a:p>
          <a:p>
            <a:endParaRPr lang="en-US" sz="1600" b="1" dirty="0"/>
          </a:p>
          <a:p>
            <a:r>
              <a:rPr lang="en-US" sz="1600" b="1" dirty="0"/>
              <a:t>Toolchain:</a:t>
            </a:r>
            <a:r>
              <a:rPr lang="en-US" sz="1600" dirty="0"/>
              <a:t> Python/</a:t>
            </a:r>
            <a:r>
              <a:rPr lang="en-US" sz="1600" dirty="0" err="1"/>
              <a:t>PyTorch</a:t>
            </a:r>
            <a:r>
              <a:rPr lang="en-US" sz="1600" dirty="0"/>
              <a:t> (model design &amp; training) → STM32Cube.AI &amp; STM32CubeMX (model-to-C conversion, hardware setup) → Keil MDK (firmware) → Proteus (full-system simulation). </a:t>
            </a:r>
          </a:p>
          <a:p>
            <a:endParaRPr lang="en-US" sz="1600" b="1" dirty="0"/>
          </a:p>
          <a:p>
            <a:endParaRPr lang="en-US" sz="1600" b="1" dirty="0"/>
          </a:p>
          <a:p>
            <a:r>
              <a:rPr lang="en-US" sz="1600" b="1" dirty="0"/>
              <a:t>Build Health:</a:t>
            </a:r>
            <a:r>
              <a:rPr lang="en-US" sz="1600" dirty="0"/>
              <a:t> Final firmware compiled with 0 errors, 0 warnings.</a:t>
            </a:r>
          </a:p>
        </p:txBody>
      </p:sp>
    </p:spTree>
    <p:extLst>
      <p:ext uri="{BB962C8B-B14F-4D97-AF65-F5344CB8AC3E}">
        <p14:creationId xmlns:p14="http://schemas.microsoft.com/office/powerpoint/2010/main" val="3333739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3D9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CD7069-A4C2-49B8-9AA9-18280AEFFF6F}"/>
              </a:ext>
            </a:extLst>
          </p:cNvPr>
          <p:cNvSpPr>
            <a:spLocks noGrp="1"/>
          </p:cNvSpPr>
          <p:nvPr>
            <p:ph type="ftr" sz="quarter" idx="11"/>
          </p:nvPr>
        </p:nvSpPr>
        <p:spPr/>
        <p:txBody>
          <a:bodyPr/>
          <a:lstStyle/>
          <a:p>
            <a:pPr algn="l"/>
            <a:r>
              <a:rPr lang="en-US" cap="all" dirty="0">
                <a:solidFill>
                  <a:srgbClr val="FFB703"/>
                </a:solidFill>
                <a:latin typeface="-apple-system"/>
              </a:rPr>
              <a:t>Smart Car System Design — University of Tabriz</a:t>
            </a:r>
            <a:endParaRPr lang="fa-IR" cap="all" dirty="0">
              <a:solidFill>
                <a:srgbClr val="FFB703"/>
              </a:solidFill>
              <a:latin typeface="-apple-system"/>
            </a:endParaRPr>
          </a:p>
        </p:txBody>
      </p:sp>
      <p:sp>
        <p:nvSpPr>
          <p:cNvPr id="5" name="Slide Number Placeholder 4">
            <a:extLst>
              <a:ext uri="{FF2B5EF4-FFF2-40B4-BE49-F238E27FC236}">
                <a16:creationId xmlns:a16="http://schemas.microsoft.com/office/drawing/2014/main" id="{E0A80B40-49B8-4B34-A52E-3E6944D2EA49}"/>
              </a:ext>
            </a:extLst>
          </p:cNvPr>
          <p:cNvSpPr>
            <a:spLocks noGrp="1"/>
          </p:cNvSpPr>
          <p:nvPr>
            <p:ph type="sldNum" sz="quarter" idx="12"/>
          </p:nvPr>
        </p:nvSpPr>
        <p:spPr/>
        <p:txBody>
          <a:bodyPr/>
          <a:lstStyle/>
          <a:p>
            <a:fld id="{84E4409A-E250-43DE-AEC0-E766029F0D9A}" type="slidenum">
              <a:rPr lang="fa-IR" cap="all" smtClean="0">
                <a:solidFill>
                  <a:srgbClr val="FFB703"/>
                </a:solidFill>
                <a:latin typeface="-apple-system"/>
              </a:rPr>
              <a:t>29</a:t>
            </a:fld>
            <a:endParaRPr lang="fa-IR" cap="all" dirty="0">
              <a:solidFill>
                <a:srgbClr val="FFB703"/>
              </a:solidFill>
              <a:latin typeface="-apple-system"/>
            </a:endParaRPr>
          </a:p>
        </p:txBody>
      </p:sp>
      <p:sp>
        <p:nvSpPr>
          <p:cNvPr id="6" name="Title 1">
            <a:extLst>
              <a:ext uri="{FF2B5EF4-FFF2-40B4-BE49-F238E27FC236}">
                <a16:creationId xmlns:a16="http://schemas.microsoft.com/office/drawing/2014/main" id="{AEC28B1F-5822-4BE4-81D0-EC40F43F51CD}"/>
              </a:ext>
            </a:extLst>
          </p:cNvPr>
          <p:cNvSpPr txBox="1">
            <a:spLocks/>
          </p:cNvSpPr>
          <p:nvPr/>
        </p:nvSpPr>
        <p:spPr>
          <a:xfrm>
            <a:off x="904875" y="1122363"/>
            <a:ext cx="9848850" cy="2387600"/>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400" b="1" dirty="0">
                <a:solidFill>
                  <a:srgbClr val="FFFFFF"/>
                </a:solidFill>
                <a:latin typeface="-apple-system"/>
              </a:rPr>
              <a:t>Ai</a:t>
            </a:r>
            <a:r>
              <a:rPr lang="en-US" sz="5600" b="1" dirty="0">
                <a:solidFill>
                  <a:schemeClr val="bg1"/>
                </a:solidFill>
                <a:latin typeface="-apple-system"/>
              </a:rPr>
              <a:t> node: ready for integration with the master.</a:t>
            </a:r>
            <a:br>
              <a:rPr lang="en-US" b="1" dirty="0">
                <a:solidFill>
                  <a:schemeClr val="bg1"/>
                </a:solidFill>
                <a:latin typeface="-apple-system"/>
              </a:rPr>
            </a:br>
            <a:endParaRPr lang="fa-IR" b="1" dirty="0">
              <a:solidFill>
                <a:schemeClr val="bg1"/>
              </a:solidFill>
              <a:latin typeface="-apple-system"/>
            </a:endParaRPr>
          </a:p>
        </p:txBody>
      </p:sp>
      <p:sp>
        <p:nvSpPr>
          <p:cNvPr id="7" name="Subtitle 2">
            <a:extLst>
              <a:ext uri="{FF2B5EF4-FFF2-40B4-BE49-F238E27FC236}">
                <a16:creationId xmlns:a16="http://schemas.microsoft.com/office/drawing/2014/main" id="{B31B158F-F8DA-4C3F-BDB0-8D0E1E77FC14}"/>
              </a:ext>
            </a:extLst>
          </p:cNvPr>
          <p:cNvSpPr txBox="1">
            <a:spLocks/>
          </p:cNvSpPr>
          <p:nvPr/>
        </p:nvSpPr>
        <p:spPr>
          <a:xfrm>
            <a:off x="904875" y="2773363"/>
            <a:ext cx="9848850" cy="41751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cap="all" dirty="0">
                <a:solidFill>
                  <a:srgbClr val="FFB703"/>
                </a:solidFill>
                <a:latin typeface="-apple-system"/>
              </a:rPr>
              <a:t>End of Node 5</a:t>
            </a:r>
            <a:endParaRPr lang="fa-IR" sz="2000" b="1" cap="all" dirty="0">
              <a:solidFill>
                <a:srgbClr val="FFB703"/>
              </a:solidFill>
              <a:latin typeface="-apple-system"/>
            </a:endParaRPr>
          </a:p>
        </p:txBody>
      </p:sp>
    </p:spTree>
    <p:extLst>
      <p:ext uri="{BB962C8B-B14F-4D97-AF65-F5344CB8AC3E}">
        <p14:creationId xmlns:p14="http://schemas.microsoft.com/office/powerpoint/2010/main" val="988396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3D91"/>
        </a:solidFill>
        <a:effectLst/>
      </p:bgPr>
    </p:bg>
    <p:spTree>
      <p:nvGrpSpPr>
        <p:cNvPr id="1" name="">
          <a:extLst>
            <a:ext uri="{FF2B5EF4-FFF2-40B4-BE49-F238E27FC236}">
              <a16:creationId xmlns:a16="http://schemas.microsoft.com/office/drawing/2014/main" id="{9D502C3B-1607-2170-4EBC-03E25DB298A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1EFFDCD-8589-3816-9404-5CFE8D0E966B}"/>
              </a:ext>
            </a:extLst>
          </p:cNvPr>
          <p:cNvSpPr>
            <a:spLocks noGrp="1"/>
          </p:cNvSpPr>
          <p:nvPr>
            <p:ph type="ftr" sz="quarter" idx="11"/>
          </p:nvPr>
        </p:nvSpPr>
        <p:spPr>
          <a:xfrm>
            <a:off x="4038600" y="6356349"/>
            <a:ext cx="4114800" cy="365125"/>
          </a:xfrm>
        </p:spPr>
        <p:txBody>
          <a:bodyPr/>
          <a:lstStyle/>
          <a:p>
            <a:r>
              <a:rPr lang="en-US" cap="all" dirty="0">
                <a:solidFill>
                  <a:srgbClr val="FFB703"/>
                </a:solidFill>
                <a:latin typeface="-apple-system"/>
              </a:rPr>
              <a:t>Smart Car System Design — University of Tabriz</a:t>
            </a:r>
            <a:endParaRPr lang="fa-IR" cap="all" dirty="0">
              <a:solidFill>
                <a:srgbClr val="FFB703"/>
              </a:solidFill>
              <a:latin typeface="-apple-system"/>
            </a:endParaRPr>
          </a:p>
        </p:txBody>
      </p:sp>
      <p:sp>
        <p:nvSpPr>
          <p:cNvPr id="6" name="Title 1">
            <a:extLst>
              <a:ext uri="{FF2B5EF4-FFF2-40B4-BE49-F238E27FC236}">
                <a16:creationId xmlns:a16="http://schemas.microsoft.com/office/drawing/2014/main" id="{E5C6FC2F-018E-45B0-1DEF-4926CA7F4466}"/>
              </a:ext>
            </a:extLst>
          </p:cNvPr>
          <p:cNvSpPr txBox="1">
            <a:spLocks/>
          </p:cNvSpPr>
          <p:nvPr/>
        </p:nvSpPr>
        <p:spPr>
          <a:xfrm>
            <a:off x="904875" y="1122363"/>
            <a:ext cx="984885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a-IR" b="1" dirty="0">
              <a:solidFill>
                <a:schemeClr val="bg1"/>
              </a:solidFill>
              <a:latin typeface="-apple-system"/>
            </a:endParaRPr>
          </a:p>
        </p:txBody>
      </p:sp>
      <p:sp>
        <p:nvSpPr>
          <p:cNvPr id="3" name="TextBox 2">
            <a:extLst>
              <a:ext uri="{FF2B5EF4-FFF2-40B4-BE49-F238E27FC236}">
                <a16:creationId xmlns:a16="http://schemas.microsoft.com/office/drawing/2014/main" id="{C1672AF5-6ADC-17A7-C01C-1FA2A00DB961}"/>
              </a:ext>
            </a:extLst>
          </p:cNvPr>
          <p:cNvSpPr txBox="1"/>
          <p:nvPr/>
        </p:nvSpPr>
        <p:spPr>
          <a:xfrm>
            <a:off x="1706775" y="943873"/>
            <a:ext cx="8778450" cy="1077218"/>
          </a:xfrm>
          <a:prstGeom prst="rect">
            <a:avLst/>
          </a:prstGeom>
          <a:noFill/>
        </p:spPr>
        <p:txBody>
          <a:bodyPr wrap="square">
            <a:spAutoFit/>
          </a:bodyPr>
          <a:lstStyle/>
          <a:p>
            <a:pPr marL="0" marR="0" indent="0" algn="ctr">
              <a:spcBef>
                <a:spcPts val="1200"/>
              </a:spcBef>
              <a:spcAft>
                <a:spcPts val="1200"/>
              </a:spcAft>
              <a:buNone/>
            </a:pPr>
            <a:r>
              <a:rPr lang="en-US" i="0" dirty="0">
                <a:solidFill>
                  <a:schemeClr val="bg1"/>
                </a:solidFill>
                <a:effectLst/>
                <a:latin typeface="quote-cjk-patch"/>
              </a:rPr>
              <a:t>We sincerely thank you for honoring this presentation with your presence and attention.</a:t>
            </a:r>
          </a:p>
          <a:p>
            <a:pPr>
              <a:buNone/>
            </a:pPr>
            <a:br>
              <a:rPr lang="en-US" dirty="0"/>
            </a:br>
            <a:endParaRPr lang="en-US" dirty="0"/>
          </a:p>
        </p:txBody>
      </p:sp>
      <p:sp>
        <p:nvSpPr>
          <p:cNvPr id="9" name="TextBox 8">
            <a:extLst>
              <a:ext uri="{FF2B5EF4-FFF2-40B4-BE49-F238E27FC236}">
                <a16:creationId xmlns:a16="http://schemas.microsoft.com/office/drawing/2014/main" id="{9D296BBB-6278-2EFD-2AD1-24F906B4E357}"/>
              </a:ext>
            </a:extLst>
          </p:cNvPr>
          <p:cNvSpPr txBox="1"/>
          <p:nvPr/>
        </p:nvSpPr>
        <p:spPr>
          <a:xfrm>
            <a:off x="1706775" y="3873219"/>
            <a:ext cx="8778450" cy="1015663"/>
          </a:xfrm>
          <a:prstGeom prst="rect">
            <a:avLst/>
          </a:prstGeom>
          <a:noFill/>
        </p:spPr>
        <p:txBody>
          <a:bodyPr wrap="square">
            <a:spAutoFit/>
          </a:bodyPr>
          <a:lstStyle/>
          <a:p>
            <a:pPr algn="ctr">
              <a:spcBef>
                <a:spcPts val="1200"/>
              </a:spcBef>
              <a:spcAft>
                <a:spcPts val="1200"/>
              </a:spcAft>
            </a:pPr>
            <a:r>
              <a:rPr lang="en-US" sz="2000" b="1" dirty="0">
                <a:solidFill>
                  <a:schemeClr val="bg1"/>
                </a:solidFill>
              </a:rPr>
              <a:t>Presenting Group:</a:t>
            </a:r>
            <a:br>
              <a:rPr lang="en-US" sz="2000" dirty="0">
                <a:solidFill>
                  <a:schemeClr val="bg1"/>
                </a:solidFill>
              </a:rPr>
            </a:br>
            <a:r>
              <a:rPr lang="en-US" sz="2000" dirty="0">
                <a:solidFill>
                  <a:schemeClr val="bg1"/>
                </a:solidFill>
              </a:rPr>
              <a:t>Parinaz Kari| Hossein Ranjbar | Sobhan Nasiri</a:t>
            </a:r>
            <a:br>
              <a:rPr lang="en-US" sz="2000" dirty="0">
                <a:solidFill>
                  <a:schemeClr val="bg1"/>
                </a:solidFill>
              </a:rPr>
            </a:br>
            <a:r>
              <a:rPr lang="en-US" sz="2000" dirty="0">
                <a:solidFill>
                  <a:schemeClr val="bg1"/>
                </a:solidFill>
              </a:rPr>
              <a:t>Salar Ghasemi | Mehdi </a:t>
            </a:r>
            <a:r>
              <a:rPr lang="en-US" sz="2000" dirty="0" err="1">
                <a:solidFill>
                  <a:schemeClr val="bg1"/>
                </a:solidFill>
              </a:rPr>
              <a:t>Tahouni</a:t>
            </a:r>
            <a:endParaRPr lang="en-US" sz="2000" dirty="0">
              <a:solidFill>
                <a:schemeClr val="bg1"/>
              </a:solidFill>
            </a:endParaRPr>
          </a:p>
        </p:txBody>
      </p:sp>
      <p:sp>
        <p:nvSpPr>
          <p:cNvPr id="11" name="TextBox 10">
            <a:extLst>
              <a:ext uri="{FF2B5EF4-FFF2-40B4-BE49-F238E27FC236}">
                <a16:creationId xmlns:a16="http://schemas.microsoft.com/office/drawing/2014/main" id="{35DBECFC-8E75-AD0C-015E-390448339161}"/>
              </a:ext>
            </a:extLst>
          </p:cNvPr>
          <p:cNvSpPr txBox="1"/>
          <p:nvPr/>
        </p:nvSpPr>
        <p:spPr>
          <a:xfrm>
            <a:off x="1706775" y="2400105"/>
            <a:ext cx="8778450" cy="861774"/>
          </a:xfrm>
          <a:prstGeom prst="rect">
            <a:avLst/>
          </a:prstGeom>
          <a:noFill/>
        </p:spPr>
        <p:txBody>
          <a:bodyPr wrap="square">
            <a:spAutoFit/>
          </a:bodyPr>
          <a:lstStyle/>
          <a:p>
            <a:pPr algn="ctr">
              <a:spcBef>
                <a:spcPts val="1200"/>
              </a:spcBef>
              <a:spcAft>
                <a:spcPts val="1200"/>
              </a:spcAft>
            </a:pPr>
            <a:r>
              <a:rPr lang="en-US" sz="2400" dirty="0">
                <a:solidFill>
                  <a:schemeClr val="bg1"/>
                </a:solidFill>
              </a:rPr>
              <a:t>With special thanks to our esteemed professor, </a:t>
            </a:r>
            <a:r>
              <a:rPr lang="en-US" sz="2500" b="1" dirty="0">
                <a:solidFill>
                  <a:schemeClr val="bg1"/>
                </a:solidFill>
              </a:rPr>
              <a:t>Dr. Zargari</a:t>
            </a:r>
            <a:r>
              <a:rPr lang="en-US" sz="2400" dirty="0">
                <a:solidFill>
                  <a:schemeClr val="bg1"/>
                </a:solidFill>
              </a:rPr>
              <a:t>,</a:t>
            </a:r>
            <a:br>
              <a:rPr lang="en-US" sz="2800" dirty="0">
                <a:solidFill>
                  <a:schemeClr val="bg1"/>
                </a:solidFill>
              </a:rPr>
            </a:br>
            <a:r>
              <a:rPr lang="en-US" sz="2400" dirty="0">
                <a:solidFill>
                  <a:schemeClr val="bg1"/>
                </a:solidFill>
              </a:rPr>
              <a:t>for his invaluable guidance and unwavering support.</a:t>
            </a:r>
            <a:endParaRPr lang="en-US" sz="2800" dirty="0">
              <a:solidFill>
                <a:schemeClr val="bg1"/>
              </a:solidFill>
            </a:endParaRPr>
          </a:p>
        </p:txBody>
      </p:sp>
    </p:spTree>
    <p:extLst>
      <p:ext uri="{BB962C8B-B14F-4D97-AF65-F5344CB8AC3E}">
        <p14:creationId xmlns:p14="http://schemas.microsoft.com/office/powerpoint/2010/main" val="4177984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Custom 5">
      <a:dk1>
        <a:sysClr val="windowText" lastClr="000000"/>
      </a:dk1>
      <a:lt1>
        <a:sysClr val="window" lastClr="FFFFFF"/>
      </a:lt1>
      <a:dk2>
        <a:srgbClr val="344068"/>
      </a:dk2>
      <a:lt2>
        <a:srgbClr val="D9E0E6"/>
      </a:lt2>
      <a:accent1>
        <a:srgbClr val="397DF0"/>
      </a:accent1>
      <a:accent2>
        <a:srgbClr val="0B3D91"/>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1401</TotalTime>
  <Words>2727</Words>
  <Application>Microsoft Office PowerPoint</Application>
  <PresentationFormat>Widescreen</PresentationFormat>
  <Paragraphs>312</Paragraphs>
  <Slides>30</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quote-cjk-patch</vt:lpstr>
      <vt:lpstr>-apple-system</vt:lpstr>
      <vt:lpstr>Arial</vt:lpstr>
      <vt:lpstr>Calibri</vt:lpstr>
      <vt:lpstr>Calibri Light</vt:lpstr>
      <vt:lpstr>Office Theme</vt:lpstr>
      <vt:lpstr>Retrospect</vt:lpstr>
      <vt:lpstr>PowerPoint Presentation</vt:lpstr>
      <vt:lpstr> Node 5 — Mission &amp; Responsibilities </vt:lpstr>
      <vt:lpstr> STM32CubeMX Configuration </vt:lpstr>
      <vt:lpstr> Three Development Phases </vt:lpstr>
      <vt:lpstr>PowerPoint Presentation</vt:lpstr>
      <vt:lpstr>Development Toolchain &amp; Hardware Platform </vt:lpstr>
      <vt:lpstr>Synthetic Dataset Generation </vt:lpstr>
      <vt:lpstr>Data Preprocessing &amp; Loading Pipeline </vt:lpstr>
      <vt:lpstr>CNN Architecture — TinyObstacleNetMCU </vt:lpstr>
      <vt:lpstr>PowerPoint Presentation</vt:lpstr>
      <vt:lpstr>Layer-by-Layer Output Dimensions </vt:lpstr>
      <vt:lpstr>Model Training &amp; Export </vt:lpstr>
      <vt:lpstr>PowerPoint Presentation</vt:lpstr>
      <vt:lpstr>Model Deployment via STM32Cube.AI </vt:lpstr>
      <vt:lpstr>Software Architecture &amp; Modularization </vt:lpstr>
      <vt:lpstr>Memory Configuration (Stack &amp; Heap) </vt:lpstr>
      <vt:lpstr>Peripheral Interfaces: SPI Display &amp; UART Debug </vt:lpstr>
      <vt:lpstr>AI Inference Engine &amp; Preprocessing Pipeline </vt:lpstr>
      <vt:lpstr>Risk Assessment (TTC) &amp; FSM Decision Logic </vt:lpstr>
      <vt:lpstr>PowerPoint Presentation</vt:lpstr>
      <vt:lpstr>PowerPoint Presentation</vt:lpstr>
      <vt:lpstr>Schematic Design &amp; Hardware Wiring </vt:lpstr>
      <vt:lpstr>PowerPoint Presentation</vt:lpstr>
      <vt:lpstr>System Initialization &amp; Boot Sequence </vt:lpstr>
      <vt:lpstr>Scenario Test: Normal / Safe Condition </vt:lpstr>
      <vt:lpstr>Scenario Test: Emergency Braking </vt:lpstr>
      <vt:lpstr>Performance Evaluation </vt:lpstr>
      <vt:lpstr>Conclusion &amp; Toolchain Summary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Hossein Ranjbari</dc:creator>
  <cp:lastModifiedBy>Sobhan Nasiri</cp:lastModifiedBy>
  <cp:revision>144</cp:revision>
  <dcterms:created xsi:type="dcterms:W3CDTF">2026-07-13T22:33:43Z</dcterms:created>
  <dcterms:modified xsi:type="dcterms:W3CDTF">2026-07-20T21:21:24Z</dcterms:modified>
</cp:coreProperties>
</file>